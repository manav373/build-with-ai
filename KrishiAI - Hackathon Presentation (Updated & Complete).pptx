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280160"/>
            <a:ext cx="8899855" cy="1371600"/>
          </a:xfrm>
          <a:prstGeom prst="rect">
            <a:avLst/>
          </a:prstGeom>
          <a:noFill/>
        </p:spPr>
        <p:txBody>
          <a:bodyPr wrap="square">
            <a:spAutoFit/>
          </a:bodyPr>
          <a:lstStyle/>
          <a:p>
            <a:pPr>
              <a:defRPr sz="4400" b="1">
                <a:solidFill>
                  <a:srgbClr val="00FF66"/>
                </a:solidFill>
                <a:latin typeface="Arial"/>
              </a:defRPr>
            </a:pPr>
            <a:r>
              <a:t>KrishiAI</a:t>
            </a:r>
          </a:p>
          <a:p>
            <a:pPr>
              <a:defRPr sz="2000" b="1">
                <a:solidFill>
                  <a:srgbClr val="FFFFFF"/>
                </a:solidFill>
                <a:latin typeface="Arial"/>
              </a:defRPr>
            </a:pPr>
            <a:r>
              <a:t>AI-Powered Crop Yield Prediction &amp; Multi-Vendor Marketplace Ecosystem</a:t>
            </a:r>
          </a:p>
        </p:txBody>
      </p:sp>
      <p:sp>
        <p:nvSpPr>
          <p:cNvPr id="5" name="TextBox 4"/>
          <p:cNvSpPr txBox="1"/>
          <p:nvPr/>
        </p:nvSpPr>
        <p:spPr>
          <a:xfrm>
            <a:off x="1645920" y="2834640"/>
            <a:ext cx="8899855" cy="731520"/>
          </a:xfrm>
          <a:prstGeom prst="rect">
            <a:avLst/>
          </a:prstGeom>
          <a:noFill/>
        </p:spPr>
        <p:txBody>
          <a:bodyPr wrap="square">
            <a:spAutoFit/>
          </a:bodyPr>
          <a:lstStyle/>
          <a:p>
            <a:pPr>
              <a:defRPr sz="1400">
                <a:solidFill>
                  <a:srgbClr val="D1D5DB"/>
                </a:solidFill>
                <a:latin typeface="Arial"/>
              </a:defRPr>
            </a:pPr>
            <a:r>
              <a:t>Empowering 40M+ Indian Farmers with Precision Agriculture, Satellite GIS &amp; Direct B2B Commerce</a:t>
            </a:r>
          </a:p>
        </p:txBody>
      </p:sp>
      <p:sp>
        <p:nvSpPr>
          <p:cNvPr id="6" name="Rounded Rectangle 5"/>
          <p:cNvSpPr/>
          <p:nvPr/>
        </p:nvSpPr>
        <p:spPr>
          <a:xfrm>
            <a:off x="1645920" y="3840480"/>
            <a:ext cx="192024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F66"/>
                </a:solidFill>
                <a:latin typeface="Arial"/>
              </a:defRPr>
            </a:pPr>
            <a:r>
              <a:t>🌐 Web Dashboard</a:t>
            </a:r>
          </a:p>
        </p:txBody>
      </p:sp>
      <p:sp>
        <p:nvSpPr>
          <p:cNvPr id="7" name="Rounded Rectangle 6"/>
          <p:cNvSpPr/>
          <p:nvPr/>
        </p:nvSpPr>
        <p:spPr>
          <a:xfrm>
            <a:off x="3749039" y="3840480"/>
            <a:ext cx="192024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F66"/>
                </a:solidFill>
                <a:latin typeface="Arial"/>
              </a:defRPr>
            </a:pPr>
            <a:r>
              <a:t>💬 WhatsApp Bot</a:t>
            </a:r>
          </a:p>
        </p:txBody>
      </p:sp>
      <p:sp>
        <p:nvSpPr>
          <p:cNvPr id="8" name="Rounded Rectangle 7"/>
          <p:cNvSpPr/>
          <p:nvPr/>
        </p:nvSpPr>
        <p:spPr>
          <a:xfrm>
            <a:off x="5852160" y="3840480"/>
            <a:ext cx="201168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 Vapi Voice Agent</a:t>
            </a:r>
          </a:p>
        </p:txBody>
      </p:sp>
      <p:sp>
        <p:nvSpPr>
          <p:cNvPr id="9" name="Rounded Rectangle 8"/>
          <p:cNvSpPr/>
          <p:nvPr/>
        </p:nvSpPr>
        <p:spPr>
          <a:xfrm>
            <a:off x="8046720" y="3840480"/>
            <a:ext cx="192024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F66"/>
                </a:solidFill>
                <a:latin typeface="Arial"/>
              </a:defRPr>
            </a:pPr>
            <a:r>
              <a:t>📱 Expo Mobile App</a:t>
            </a:r>
          </a:p>
        </p:txBody>
      </p:sp>
      <p:sp>
        <p:nvSpPr>
          <p:cNvPr id="10" name="Rounded Rectangle 9"/>
          <p:cNvSpPr/>
          <p:nvPr/>
        </p:nvSpPr>
        <p:spPr>
          <a:xfrm>
            <a:off x="1645920" y="4663440"/>
            <a:ext cx="402336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 Zero-Latency Smart Bypass System (&lt;1s)</a:t>
            </a:r>
          </a:p>
        </p:txBody>
      </p:sp>
      <p:sp>
        <p:nvSpPr>
          <p:cNvPr id="11" name="Rounded Rectangle 10"/>
          <p:cNvSpPr/>
          <p:nvPr/>
        </p:nvSpPr>
        <p:spPr>
          <a:xfrm>
            <a:off x="5852160" y="4663440"/>
            <a:ext cx="4114800" cy="45720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 Google Earth Engine &amp; Sentinel-2 GIS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INTRODUCTION</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Bridging Tradition with Technology</a:t>
            </a:r>
          </a:p>
        </p:txBody>
      </p:sp>
      <p:sp>
        <p:nvSpPr>
          <p:cNvPr id="5" name="Rounded Rectangle 4"/>
          <p:cNvSpPr/>
          <p:nvPr/>
        </p:nvSpPr>
        <p:spPr>
          <a:xfrm>
            <a:off x="731520" y="1280160"/>
            <a:ext cx="6858000" cy="14630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1280160"/>
          </a:xfrm>
          <a:prstGeom prst="rect">
            <a:avLst/>
          </a:prstGeom>
          <a:noFill/>
        </p:spPr>
        <p:txBody>
          <a:bodyPr wrap="square">
            <a:spAutoFit/>
          </a:bodyPr>
          <a:lstStyle/>
          <a:p>
            <a:pPr>
              <a:defRPr sz="1600" b="1">
                <a:solidFill>
                  <a:srgbClr val="00FF66"/>
                </a:solidFill>
              </a:defRPr>
            </a:pPr>
            <a:r>
              <a:t>Our Vision</a:t>
            </a:r>
          </a:p>
          <a:p>
            <a:pPr>
              <a:defRPr sz="1200">
                <a:solidFill>
                  <a:srgbClr val="FFFFFF"/>
                </a:solidFill>
              </a:defRPr>
            </a:pPr>
            <a:r>
              <a:t>To empower every farmer in India with Artificial Intelligence, transforming agricultural decision-making from intuition-based to data-driven precision agriculture.</a:t>
            </a:r>
          </a:p>
        </p:txBody>
      </p:sp>
      <p:sp>
        <p:nvSpPr>
          <p:cNvPr id="7" name="Rounded Rectangle 6"/>
          <p:cNvSpPr/>
          <p:nvPr/>
        </p:nvSpPr>
        <p:spPr>
          <a:xfrm>
            <a:off x="731520" y="2926080"/>
            <a:ext cx="6858000" cy="16459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6492240" cy="1463040"/>
          </a:xfrm>
          <a:prstGeom prst="rect">
            <a:avLst/>
          </a:prstGeom>
          <a:noFill/>
        </p:spPr>
        <p:txBody>
          <a:bodyPr wrap="square">
            <a:spAutoFit/>
          </a:bodyPr>
          <a:lstStyle/>
          <a:p>
            <a:pPr>
              <a:defRPr sz="1600" b="1">
                <a:solidFill>
                  <a:srgbClr val="F59E0B"/>
                </a:solidFill>
              </a:defRPr>
            </a:pPr>
            <a:r>
              <a:t>The Challenge</a:t>
            </a:r>
          </a:p>
          <a:p>
            <a:pPr>
              <a:defRPr sz="1200">
                <a:solidFill>
                  <a:srgbClr val="FFFFFF"/>
                </a:solidFill>
              </a:defRPr>
            </a:pPr>
            <a:r>
              <a:t>40+ million farmers in India face uncertainty due to climate change, unpredictable weather, and lack of access to actionable insights. Crop losses cost the economy ₹50,000+ crores annually.</a:t>
            </a:r>
          </a:p>
        </p:txBody>
      </p:sp>
      <p:sp>
        <p:nvSpPr>
          <p:cNvPr id="9" name="Rounded Rectangle 8"/>
          <p:cNvSpPr/>
          <p:nvPr/>
        </p:nvSpPr>
        <p:spPr>
          <a:xfrm>
            <a:off x="731520" y="4754880"/>
            <a:ext cx="6858000" cy="16459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6492240" cy="1463040"/>
          </a:xfrm>
          <a:prstGeom prst="rect">
            <a:avLst/>
          </a:prstGeom>
          <a:noFill/>
        </p:spPr>
        <p:txBody>
          <a:bodyPr wrap="square">
            <a:spAutoFit/>
          </a:bodyPr>
          <a:lstStyle/>
          <a:p>
            <a:pPr>
              <a:defRPr sz="1600" b="1">
                <a:solidFill>
                  <a:srgbClr val="00FF66"/>
                </a:solidFill>
              </a:defRPr>
            </a:pPr>
            <a:r>
              <a:t>Our Solution</a:t>
            </a:r>
          </a:p>
          <a:p>
            <a:pPr>
              <a:defRPr sz="1200">
                <a:solidFill>
                  <a:srgbClr val="FFFFFF"/>
                </a:solidFill>
              </a:defRPr>
            </a:pPr>
            <a:r>
              <a:t>KrishiAI integrates historical weather data, soil characteristics, satellite imagery, and a B2B multi-vendor marketplace to deliver pre-season yield prediction and direct buyer access.</a:t>
            </a:r>
          </a:p>
        </p:txBody>
      </p:sp>
      <p:sp>
        <p:nvSpPr>
          <p:cNvPr id="11" name="Rounded Rectangle 10"/>
          <p:cNvSpPr/>
          <p:nvPr/>
        </p:nvSpPr>
        <p:spPr>
          <a:xfrm>
            <a:off x="7863840" y="1280160"/>
            <a:ext cx="3566160" cy="32918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371600"/>
            <a:ext cx="3200400" cy="3108960"/>
          </a:xfrm>
          <a:prstGeom prst="rect">
            <a:avLst/>
          </a:prstGeom>
          <a:noFill/>
        </p:spPr>
        <p:txBody>
          <a:bodyPr wrap="square">
            <a:spAutoFit/>
          </a:bodyPr>
          <a:lstStyle/>
          <a:p>
            <a:pPr>
              <a:defRPr sz="1600" b="1">
                <a:solidFill>
                  <a:srgbClr val="00FF66"/>
                </a:solidFill>
              </a:defRPr>
            </a:pPr>
            <a:r>
              <a:t>Core Value Proposition</a:t>
            </a:r>
          </a:p>
          <a:p>
            <a:br/>
            <a:pPr>
              <a:defRPr sz="1200" b="1">
                <a:solidFill>
                  <a:srgbClr val="FFFFFF"/>
                </a:solidFill>
              </a:defRPr>
            </a:pPr>
            <a:r>
              <a:t>🧠 AI-Powered Insights</a:t>
            </a:r>
          </a:p>
          <a:p>
            <a:pPr>
              <a:defRPr sz="1000">
                <a:solidFill>
                  <a:srgbClr val="D1D5DB"/>
                </a:solidFill>
              </a:defRPr>
            </a:pPr>
            <a:r>
              <a:t>Machine learning models trained on 10+ years of ICAR agricultural yield data.</a:t>
            </a:r>
          </a:p>
          <a:p>
            <a:br/>
            <a:pPr>
              <a:defRPr sz="1200" b="1">
                <a:solidFill>
                  <a:srgbClr val="FFFFFF"/>
                </a:solidFill>
              </a:defRPr>
            </a:pPr>
            <a:r>
              <a:t>🛰️ Satellite Integration</a:t>
            </a:r>
          </a:p>
          <a:p>
            <a:pPr>
              <a:defRPr sz="1000">
                <a:solidFill>
                  <a:srgbClr val="D1D5DB"/>
                </a:solidFill>
              </a:defRPr>
            </a:pPr>
            <a:r>
              <a:t>Real-time Sentinel-2 NDVI monitoring for vegetation health assessment.</a:t>
            </a:r>
          </a:p>
          <a:p>
            <a:br/>
            <a:pPr>
              <a:defRPr sz="1200" b="1">
                <a:solidFill>
                  <a:srgbClr val="FFFFFF"/>
                </a:solidFill>
              </a:defRPr>
            </a:pPr>
            <a:r>
              <a:t>📱 Multi-Platform Access</a:t>
            </a:r>
          </a:p>
          <a:p>
            <a:pPr>
              <a:defRPr sz="1000">
                <a:solidFill>
                  <a:srgbClr val="D1D5DB"/>
                </a:solidFill>
              </a:defRPr>
            </a:pPr>
            <a:r>
              <a:t>Web dashboard, WhatsApp chatbot, Vapi voice agent &amp; Expo mobile app.</a:t>
            </a:r>
          </a:p>
        </p:txBody>
      </p:sp>
      <p:sp>
        <p:nvSpPr>
          <p:cNvPr id="13" name="Rounded Rectangle 12"/>
          <p:cNvSpPr/>
          <p:nvPr/>
        </p:nvSpPr>
        <p:spPr>
          <a:xfrm>
            <a:off x="7863840" y="4754880"/>
            <a:ext cx="3566160" cy="16459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4846320"/>
            <a:ext cx="3200400" cy="1463040"/>
          </a:xfrm>
          <a:prstGeom prst="rect">
            <a:avLst/>
          </a:prstGeom>
          <a:noFill/>
        </p:spPr>
        <p:txBody>
          <a:bodyPr wrap="square">
            <a:spAutoFit/>
          </a:bodyPr>
          <a:lstStyle/>
          <a:p>
            <a:pPr>
              <a:defRPr sz="1500" b="1">
                <a:solidFill>
                  <a:srgbClr val="F59E0B"/>
                </a:solidFill>
              </a:defRPr>
            </a:pPr>
            <a:r>
              <a:t>👥 Target Users</a:t>
            </a:r>
          </a:p>
          <a:p>
            <a:pPr>
              <a:defRPr sz="1100">
                <a:solidFill>
                  <a:srgbClr val="FFFFFF"/>
                </a:solidFill>
              </a:defRPr>
            </a:pPr>
            <a:r>
              <a:t>Smallholder farmers, agri-vendors, seed/fertilizer suppliers, agricultural cooperatives, and government extension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PROBLEM STATEMENT</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Challenges in Indian Agriculture</a:t>
            </a:r>
          </a:p>
        </p:txBody>
      </p:sp>
      <p:sp>
        <p:nvSpPr>
          <p:cNvPr id="5" name="Rounded Rectangle 4"/>
          <p:cNvSpPr/>
          <p:nvPr/>
        </p:nvSpPr>
        <p:spPr>
          <a:xfrm>
            <a:off x="731520" y="1280160"/>
            <a:ext cx="5212080" cy="20116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846320" cy="1737360"/>
          </a:xfrm>
          <a:prstGeom prst="rect">
            <a:avLst/>
          </a:prstGeom>
          <a:noFill/>
        </p:spPr>
        <p:txBody>
          <a:bodyPr wrap="square">
            <a:spAutoFit/>
          </a:bodyPr>
          <a:lstStyle/>
          <a:p>
            <a:pPr>
              <a:defRPr sz="1500" b="1">
                <a:solidFill>
                  <a:srgbClr val="00FF66"/>
                </a:solidFill>
              </a:defRPr>
            </a:pPr>
            <a:r>
              <a:t>🌧️ Unpredictable Weather</a:t>
            </a:r>
          </a:p>
          <a:p>
            <a:pPr>
              <a:defRPr sz="1100">
                <a:solidFill>
                  <a:srgbClr val="FFFFFF"/>
                </a:solidFill>
              </a:defRPr>
            </a:pPr>
            <a:r>
              <a:t>Climate change has made weather patterns increasingly erratic. Farmers struggle to predict rainfall and extreme temperature events.</a:t>
            </a:r>
          </a:p>
        </p:txBody>
      </p:sp>
      <p:sp>
        <p:nvSpPr>
          <p:cNvPr id="7" name="Rounded Rectangle 6"/>
          <p:cNvSpPr/>
          <p:nvPr/>
        </p:nvSpPr>
        <p:spPr>
          <a:xfrm>
            <a:off x="914400" y="2743200"/>
            <a:ext cx="4846320" cy="36576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 60% of farmers report weather uncertainty as primary concern</a:t>
            </a:r>
          </a:p>
        </p:txBody>
      </p:sp>
      <p:sp>
        <p:nvSpPr>
          <p:cNvPr id="8" name="Rounded Rectangle 7"/>
          <p:cNvSpPr/>
          <p:nvPr/>
        </p:nvSpPr>
        <p:spPr>
          <a:xfrm>
            <a:off x="6217920" y="1280160"/>
            <a:ext cx="5212080" cy="20116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1737360"/>
          </a:xfrm>
          <a:prstGeom prst="rect">
            <a:avLst/>
          </a:prstGeom>
          <a:noFill/>
        </p:spPr>
        <p:txBody>
          <a:bodyPr wrap="square">
            <a:spAutoFit/>
          </a:bodyPr>
          <a:lstStyle/>
          <a:p>
            <a:pPr>
              <a:defRPr sz="1500" b="1">
                <a:solidFill>
                  <a:srgbClr val="00FF66"/>
                </a:solidFill>
              </a:defRPr>
            </a:pPr>
            <a:r>
              <a:t>🌱 Soil Variability</a:t>
            </a:r>
          </a:p>
          <a:p>
            <a:pPr>
              <a:defRPr sz="1100">
                <a:solidFill>
                  <a:srgbClr val="FFFFFF"/>
                </a:solidFill>
              </a:defRPr>
            </a:pPr>
            <a:r>
              <a:t>Soil quality varies dramatically across regions. Without proper soil diagnostics, farmers cannot optimize fertilizer usage or crop selection.</a:t>
            </a:r>
          </a:p>
        </p:txBody>
      </p:sp>
      <p:sp>
        <p:nvSpPr>
          <p:cNvPr id="10" name="Rounded Rectangle 9"/>
          <p:cNvSpPr/>
          <p:nvPr/>
        </p:nvSpPr>
        <p:spPr>
          <a:xfrm>
            <a:off x="6400800" y="2743200"/>
            <a:ext cx="4846320" cy="36576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 40% yield loss due to improper soil management</a:t>
            </a:r>
          </a:p>
        </p:txBody>
      </p:sp>
      <p:sp>
        <p:nvSpPr>
          <p:cNvPr id="11" name="Rounded Rectangle 10"/>
          <p:cNvSpPr/>
          <p:nvPr/>
        </p:nvSpPr>
        <p:spPr>
          <a:xfrm>
            <a:off x="731520" y="3474720"/>
            <a:ext cx="5212080" cy="20116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11880"/>
            <a:ext cx="4846320" cy="1737360"/>
          </a:xfrm>
          <a:prstGeom prst="rect">
            <a:avLst/>
          </a:prstGeom>
          <a:noFill/>
        </p:spPr>
        <p:txBody>
          <a:bodyPr wrap="square">
            <a:spAutoFit/>
          </a:bodyPr>
          <a:lstStyle/>
          <a:p>
            <a:pPr>
              <a:defRPr sz="1500" b="1">
                <a:solidFill>
                  <a:srgbClr val="00FF66"/>
                </a:solidFill>
              </a:defRPr>
            </a:pPr>
            <a:r>
              <a:t>📊 Lack of Data Access</a:t>
            </a:r>
          </a:p>
          <a:p>
            <a:pPr>
              <a:defRPr sz="1100">
                <a:solidFill>
                  <a:srgbClr val="FFFFFF"/>
                </a:solidFill>
              </a:defRPr>
            </a:pPr>
            <a:r>
              <a:t>Critical agricultural data—weather forecasts, mandi prices, soil health—remains fragmented and inaccessible to rural farmers.</a:t>
            </a:r>
          </a:p>
        </p:txBody>
      </p:sp>
      <p:sp>
        <p:nvSpPr>
          <p:cNvPr id="13" name="Rounded Rectangle 12"/>
          <p:cNvSpPr/>
          <p:nvPr/>
        </p:nvSpPr>
        <p:spPr>
          <a:xfrm>
            <a:off x="914400" y="4937760"/>
            <a:ext cx="4846320" cy="36576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 Only 15% of farmers have access to digital advisory services</a:t>
            </a:r>
          </a:p>
        </p:txBody>
      </p:sp>
      <p:sp>
        <p:nvSpPr>
          <p:cNvPr id="14" name="Rounded Rectangle 13"/>
          <p:cNvSpPr/>
          <p:nvPr/>
        </p:nvSpPr>
        <p:spPr>
          <a:xfrm>
            <a:off x="6217920" y="3474720"/>
            <a:ext cx="5212080" cy="20116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11880"/>
            <a:ext cx="4846320" cy="1737360"/>
          </a:xfrm>
          <a:prstGeom prst="rect">
            <a:avLst/>
          </a:prstGeom>
          <a:noFill/>
        </p:spPr>
        <p:txBody>
          <a:bodyPr wrap="square">
            <a:spAutoFit/>
          </a:bodyPr>
          <a:lstStyle/>
          <a:p>
            <a:pPr>
              <a:defRPr sz="1500" b="1">
                <a:solidFill>
                  <a:srgbClr val="00FF66"/>
                </a:solidFill>
              </a:defRPr>
            </a:pPr>
            <a:r>
              <a:t>💸 Financial Losses &amp; Middlemen</a:t>
            </a:r>
          </a:p>
          <a:p>
            <a:pPr>
              <a:defRPr sz="1100">
                <a:solidFill>
                  <a:srgbClr val="FFFFFF"/>
                </a:solidFill>
              </a:defRPr>
            </a:pPr>
            <a:r>
              <a:t>Poor crop planning and exploitative middlemen margins lead to significant financial distress, debt cycles, and unfair pricing.</a:t>
            </a:r>
          </a:p>
        </p:txBody>
      </p:sp>
      <p:sp>
        <p:nvSpPr>
          <p:cNvPr id="16" name="Rounded Rectangle 15"/>
          <p:cNvSpPr/>
          <p:nvPr/>
        </p:nvSpPr>
        <p:spPr>
          <a:xfrm>
            <a:off x="6400800" y="4937760"/>
            <a:ext cx="4846320" cy="365760"/>
          </a:xfrm>
          <a:prstGeom prst="roundRect">
            <a:avLst/>
          </a:prstGeom>
          <a:solidFill>
            <a:srgbClr val="144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 12,000+ farmer suicides annually linked to crop failure</a:t>
            </a:r>
          </a:p>
        </p:txBody>
      </p:sp>
      <p:sp>
        <p:nvSpPr>
          <p:cNvPr id="17" name="Rounded Rectangle 16"/>
          <p:cNvSpPr/>
          <p:nvPr/>
        </p:nvSpPr>
        <p:spPr>
          <a:xfrm>
            <a:off x="731520" y="5669280"/>
            <a:ext cx="10728655" cy="8229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15000"/>
            <a:ext cx="10362895" cy="731520"/>
          </a:xfrm>
          <a:prstGeom prst="rect">
            <a:avLst/>
          </a:prstGeom>
          <a:noFill/>
        </p:spPr>
        <p:txBody>
          <a:bodyPr wrap="square">
            <a:spAutoFit/>
          </a:bodyPr>
          <a:lstStyle/>
          <a:p>
            <a:pPr>
              <a:defRPr sz="1300" b="1">
                <a:solidFill>
                  <a:srgbClr val="00FF66"/>
                </a:solidFill>
              </a:defRPr>
            </a:pPr>
            <a:r>
              <a:t>💡 The Need for Intelligent Systems</a:t>
            </a:r>
          </a:p>
          <a:p>
            <a:pPr>
              <a:defRPr sz="1100">
                <a:solidFill>
                  <a:srgbClr val="FFFFFF"/>
                </a:solidFill>
              </a:defRPr>
            </a:pPr>
            <a:r>
              <a:t>There is an urgent need for an intelligent, accessible, and scalable system that can predict crop yields accurately before planting, helping farmers choose suitable crops, optimize inputs, and connect directly with buyers.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PROPOSED SOLUTION</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KrishiAI: Intelligent Crop Yield &amp; B2B Ecosystem</a:t>
            </a:r>
          </a:p>
        </p:txBody>
      </p:sp>
      <p:sp>
        <p:nvSpPr>
          <p:cNvPr id="5" name="Rounded Rectangle 4"/>
          <p:cNvSpPr/>
          <p:nvPr/>
        </p:nvSpPr>
        <p:spPr>
          <a:xfrm>
            <a:off x="731520" y="1280160"/>
            <a:ext cx="685800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4937760"/>
          </a:xfrm>
          <a:prstGeom prst="rect">
            <a:avLst/>
          </a:prstGeom>
          <a:noFill/>
        </p:spPr>
        <p:txBody>
          <a:bodyPr wrap="square">
            <a:spAutoFit/>
          </a:bodyPr>
          <a:lstStyle/>
          <a:p>
            <a:pPr>
              <a:defRPr sz="1700" b="1">
                <a:solidFill>
                  <a:srgbClr val="00FF66"/>
                </a:solidFill>
              </a:defRPr>
            </a:pPr>
            <a:r>
              <a:t>System Overview &amp; Key Capabilities</a:t>
            </a:r>
          </a:p>
          <a:p>
            <a:br/>
            <a:pPr>
              <a:defRPr sz="1100">
                <a:solidFill>
                  <a:srgbClr val="FFFFFF"/>
                </a:solidFill>
              </a:defRPr>
            </a:pPr>
            <a:r>
              <a:t>• 📊 Yield Prediction: Predict crop yield 2-3 months in advance with confidence intervals using ML.</a:t>
            </a:r>
          </a:p>
          <a:p>
            <a:br/>
            <a:pPr>
              <a:defRPr sz="1100">
                <a:solidFill>
                  <a:srgbClr val="FFFFFF"/>
                </a:solidFill>
              </a:defRPr>
            </a:pPr>
            <a:r>
              <a:t>• 🌱 Crop &amp; Soil Recommendation: Suggest best crops based on soil NPK, pH, and historical weather patterns.</a:t>
            </a:r>
          </a:p>
          <a:p>
            <a:br/>
            <a:pPr>
              <a:defRPr sz="1100">
                <a:solidFill>
                  <a:srgbClr val="FFFFFF"/>
                </a:solidFill>
              </a:defRPr>
            </a:pPr>
            <a:r>
              <a:t>• 🔍 Vision AI Disease Detection: Upload photo for instant agronomist diagnosis and treatment advice.</a:t>
            </a:r>
          </a:p>
          <a:p>
            <a:br/>
            <a:pPr>
              <a:defRPr sz="1100">
                <a:solidFill>
                  <a:srgbClr val="FFFFFF"/>
                </a:solidFill>
              </a:defRPr>
            </a:pPr>
            <a:r>
              <a:t>• 💰 Market Prices &amp; APMC Mandis: Real-time mandi prices, 7-day trend analysis across 500+ mandis.</a:t>
            </a:r>
          </a:p>
          <a:p>
            <a:br/>
            <a:pPr>
              <a:defRPr sz="1100">
                <a:solidFill>
                  <a:srgbClr val="FFFFFF"/>
                </a:solidFill>
              </a:defRPr>
            </a:pPr>
            <a:r>
              <a:t>• 📞 Live Vapi Voice Assistant: Vernacular real-time voice calls for hands-free agricultural advice.</a:t>
            </a:r>
          </a:p>
          <a:p>
            <a:br/>
            <a:pPr>
              <a:defRPr sz="1100">
                <a:solidFill>
                  <a:srgbClr val="FFFFFF"/>
                </a:solidFill>
              </a:defRPr>
            </a:pPr>
            <a:r>
              <a:t>• 🏪 B2B Vendor Marketplace: Direct vendor product catalog, bulk requirement posting, and farmer applications.</a:t>
            </a:r>
          </a:p>
        </p:txBody>
      </p:sp>
      <p:sp>
        <p:nvSpPr>
          <p:cNvPr id="7" name="Rounded Rectangle 6"/>
          <p:cNvSpPr/>
          <p:nvPr/>
        </p:nvSpPr>
        <p:spPr>
          <a:xfrm>
            <a:off x="7863840" y="1280160"/>
            <a:ext cx="3566160" cy="23774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371600"/>
            <a:ext cx="3200400" cy="2194560"/>
          </a:xfrm>
          <a:prstGeom prst="rect">
            <a:avLst/>
          </a:prstGeom>
          <a:noFill/>
        </p:spPr>
        <p:txBody>
          <a:bodyPr wrap="square">
            <a:spAutoFit/>
          </a:bodyPr>
          <a:lstStyle/>
          <a:p>
            <a:pPr>
              <a:defRPr sz="1500" b="1">
                <a:solidFill>
                  <a:srgbClr val="F59E0B"/>
                </a:solidFill>
              </a:defRPr>
            </a:pPr>
            <a:r>
              <a:t>🎯 Core Focus Areas</a:t>
            </a:r>
          </a:p>
          <a:p>
            <a:pPr>
              <a:defRPr sz="1100">
                <a:solidFill>
                  <a:srgbClr val="FFFFFF"/>
                </a:solidFill>
              </a:defRPr>
            </a:pPr>
            <a:r>
              <a:t>• Accuracy: 92% — High-precision ML yield predictions</a:t>
            </a:r>
          </a:p>
          <a:p>
            <a:pPr>
              <a:defRPr sz="1100">
                <a:solidFill>
                  <a:srgbClr val="FFFFFF"/>
                </a:solidFill>
              </a:defRPr>
            </a:pPr>
            <a:r>
              <a:t>• Scalability: 100K+ — Concurrent users supported</a:t>
            </a:r>
          </a:p>
          <a:p>
            <a:pPr>
              <a:defRPr sz="1100">
                <a:solidFill>
                  <a:srgbClr val="FFFFFF"/>
                </a:solidFill>
              </a:defRPr>
            </a:pPr>
            <a:r>
              <a:t>• Usability: A+ — Designed for rural accessibility</a:t>
            </a:r>
          </a:p>
        </p:txBody>
      </p:sp>
      <p:sp>
        <p:nvSpPr>
          <p:cNvPr id="9" name="Rounded Rectangle 8"/>
          <p:cNvSpPr/>
          <p:nvPr/>
        </p:nvSpPr>
        <p:spPr>
          <a:xfrm>
            <a:off x="7863840" y="3840480"/>
            <a:ext cx="3566160" cy="25603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3931920"/>
            <a:ext cx="3200400" cy="2377440"/>
          </a:xfrm>
          <a:prstGeom prst="rect">
            <a:avLst/>
          </a:prstGeom>
          <a:noFill/>
        </p:spPr>
        <p:txBody>
          <a:bodyPr wrap="square">
            <a:spAutoFit/>
          </a:bodyPr>
          <a:lstStyle/>
          <a:p>
            <a:pPr>
              <a:defRPr sz="1500" b="1">
                <a:solidFill>
                  <a:srgbClr val="00FF66"/>
                </a:solidFill>
              </a:defRPr>
            </a:pPr>
            <a:r>
              <a:t>📈 Impact Metrics</a:t>
            </a:r>
          </a:p>
          <a:p>
            <a:br/>
            <a:pPr>
              <a:defRPr sz="1300" b="1">
                <a:solidFill>
                  <a:srgbClr val="00FF66"/>
                </a:solidFill>
              </a:defRPr>
            </a:pPr>
            <a:r>
              <a:t>🌾 30% Yield Boost</a:t>
            </a:r>
          </a:p>
          <a:p>
            <a:pPr>
              <a:defRPr sz="1000">
                <a:solidFill>
                  <a:srgbClr val="D1D5DB"/>
                </a:solidFill>
              </a:defRPr>
            </a:pPr>
            <a:r>
              <a:t>Improvement in crop productivity</a:t>
            </a:r>
          </a:p>
          <a:p>
            <a:br/>
            <a:pPr>
              <a:defRPr sz="1300" b="1">
                <a:solidFill>
                  <a:srgbClr val="00FF66"/>
                </a:solidFill>
              </a:defRPr>
            </a:pPr>
            <a:r>
              <a:t>💧 25% Water Savings</a:t>
            </a:r>
          </a:p>
          <a:p>
            <a:pPr>
              <a:defRPr sz="1000">
                <a:solidFill>
                  <a:srgbClr val="D1D5DB"/>
                </a:solidFill>
              </a:defRPr>
            </a:pPr>
            <a:r>
              <a:t>Reduction in irrigation water usage</a:t>
            </a:r>
          </a:p>
          <a:p>
            <a:br/>
            <a:pPr>
              <a:defRPr sz="1300" b="1">
                <a:solidFill>
                  <a:srgbClr val="00FF66"/>
                </a:solidFill>
              </a:defRPr>
            </a:pPr>
            <a:r>
              <a:t>💵 40% Cost Drop</a:t>
            </a:r>
          </a:p>
          <a:p>
            <a:pPr>
              <a:defRPr sz="1000">
                <a:solidFill>
                  <a:srgbClr val="D1D5DB"/>
                </a:solidFill>
              </a:defRPr>
            </a:pPr>
            <a:r>
              <a:t>Lower input cost &amp; fertilizer wastage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TOOLS &amp; TECHNOLOGIES</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Complete Production Technology Stack</a:t>
            </a:r>
          </a:p>
        </p:txBody>
      </p:sp>
      <p:sp>
        <p:nvSpPr>
          <p:cNvPr id="5" name="Rounded Rectangle 4"/>
          <p:cNvSpPr/>
          <p:nvPr/>
        </p:nvSpPr>
        <p:spPr>
          <a:xfrm>
            <a:off x="731520" y="128016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846320" cy="1920240"/>
          </a:xfrm>
          <a:prstGeom prst="rect">
            <a:avLst/>
          </a:prstGeom>
          <a:noFill/>
        </p:spPr>
        <p:txBody>
          <a:bodyPr wrap="square">
            <a:spAutoFit/>
          </a:bodyPr>
          <a:lstStyle/>
          <a:p>
            <a:pPr>
              <a:defRPr sz="1400" b="1">
                <a:solidFill>
                  <a:srgbClr val="00FF66"/>
                </a:solidFill>
              </a:defRPr>
            </a:pPr>
            <a:r>
              <a:t>⚙️ Backend Framework</a:t>
            </a:r>
          </a:p>
          <a:p>
            <a:pPr>
              <a:defRPr sz="1000">
                <a:solidFill>
                  <a:srgbClr val="FFFFFF"/>
                </a:solidFill>
              </a:defRPr>
            </a:pPr>
            <a:r>
              <a:t>✓  FastAPI — Async web framework</a:t>
            </a:r>
          </a:p>
          <a:p>
            <a:pPr>
              <a:defRPr sz="1000">
                <a:solidFill>
                  <a:srgbClr val="FFFFFF"/>
                </a:solidFill>
              </a:defRPr>
            </a:pPr>
            <a:r>
              <a:t>✓  Uvicorn — ASGI server</a:t>
            </a:r>
          </a:p>
          <a:p>
            <a:pPr>
              <a:defRPr sz="1000">
                <a:solidFill>
                  <a:srgbClr val="FFFFFF"/>
                </a:solidFill>
              </a:defRPr>
            </a:pPr>
            <a:r>
              <a:t>✓  SQLAlchemy — ORM &amp; database layer</a:t>
            </a:r>
          </a:p>
          <a:p>
            <a:pPr>
              <a:defRPr sz="1000">
                <a:solidFill>
                  <a:srgbClr val="FFFFFF"/>
                </a:solidFill>
              </a:defRPr>
            </a:pPr>
            <a:r>
              <a:t>✓  PostgreSQL / SQLite — Database</a:t>
            </a:r>
          </a:p>
          <a:p>
            <a:pPr>
              <a:defRPr sz="1000">
                <a:solidFill>
                  <a:srgbClr val="FFFFFF"/>
                </a:solidFill>
              </a:defRPr>
            </a:pPr>
            <a:r>
              <a:t>✓  Pydantic — Data validation</a:t>
            </a:r>
          </a:p>
          <a:p>
            <a:pPr>
              <a:defRPr sz="1000">
                <a:solidFill>
                  <a:srgbClr val="FFFFFF"/>
                </a:solidFill>
              </a:defRPr>
            </a:pPr>
            <a:r>
              <a:t>✓  httpx / Axios — HTTP client engine</a:t>
            </a:r>
          </a:p>
        </p:txBody>
      </p:sp>
      <p:sp>
        <p:nvSpPr>
          <p:cNvPr id="7" name="Rounded Rectangle 6"/>
          <p:cNvSpPr/>
          <p:nvPr/>
        </p:nvSpPr>
        <p:spPr>
          <a:xfrm>
            <a:off x="6217920" y="128016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1920240"/>
          </a:xfrm>
          <a:prstGeom prst="rect">
            <a:avLst/>
          </a:prstGeom>
          <a:noFill/>
        </p:spPr>
        <p:txBody>
          <a:bodyPr wrap="square">
            <a:spAutoFit/>
          </a:bodyPr>
          <a:lstStyle/>
          <a:p>
            <a:pPr>
              <a:defRPr sz="1400" b="1">
                <a:solidFill>
                  <a:srgbClr val="00FF66"/>
                </a:solidFill>
              </a:defRPr>
            </a:pPr>
            <a:r>
              <a:t>🖥️ Frontend &amp; Mobile</a:t>
            </a:r>
          </a:p>
          <a:p>
            <a:pPr>
              <a:defRPr sz="1000">
                <a:solidFill>
                  <a:srgbClr val="FFFFFF"/>
                </a:solidFill>
              </a:defRPr>
            </a:pPr>
            <a:r>
              <a:t>✓  React 19 — UI framework</a:t>
            </a:r>
          </a:p>
          <a:p>
            <a:pPr>
              <a:defRPr sz="1000">
                <a:solidFill>
                  <a:srgbClr val="FFFFFF"/>
                </a:solidFill>
              </a:defRPr>
            </a:pPr>
            <a:r>
              <a:t>✓  Vite — Lightning build tool</a:t>
            </a:r>
          </a:p>
          <a:p>
            <a:pPr>
              <a:defRPr sz="1000">
                <a:solidFill>
                  <a:srgbClr val="FFFFFF"/>
                </a:solidFill>
              </a:defRPr>
            </a:pPr>
            <a:r>
              <a:t>✓  Expo React Native — Mobile App</a:t>
            </a:r>
          </a:p>
          <a:p>
            <a:pPr>
              <a:defRPr sz="1000">
                <a:solidFill>
                  <a:srgbClr val="FFFFFF"/>
                </a:solidFill>
              </a:defRPr>
            </a:pPr>
            <a:r>
              <a:t>✓  Tailwind CSS — Modern styling</a:t>
            </a:r>
          </a:p>
          <a:p>
            <a:pPr>
              <a:defRPr sz="1000">
                <a:solidFill>
                  <a:srgbClr val="FFFFFF"/>
                </a:solidFill>
              </a:defRPr>
            </a:pPr>
            <a:r>
              <a:t>✓  Framer Motion — Dynamic animations</a:t>
            </a:r>
          </a:p>
          <a:p>
            <a:pPr>
              <a:defRPr sz="1000">
                <a:solidFill>
                  <a:srgbClr val="FFFFFF"/>
                </a:solidFill>
              </a:defRPr>
            </a:pPr>
            <a:r>
              <a:t>✓  Leaflet — OpenStreetMap Mandi GIS</a:t>
            </a:r>
          </a:p>
        </p:txBody>
      </p:sp>
      <p:sp>
        <p:nvSpPr>
          <p:cNvPr id="9" name="Rounded Rectangle 8"/>
          <p:cNvSpPr/>
          <p:nvPr/>
        </p:nvSpPr>
        <p:spPr>
          <a:xfrm>
            <a:off x="731520" y="365760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846320" cy="1920240"/>
          </a:xfrm>
          <a:prstGeom prst="rect">
            <a:avLst/>
          </a:prstGeom>
          <a:noFill/>
        </p:spPr>
        <p:txBody>
          <a:bodyPr wrap="square">
            <a:spAutoFit/>
          </a:bodyPr>
          <a:lstStyle/>
          <a:p>
            <a:pPr>
              <a:defRPr sz="1400" b="1">
                <a:solidFill>
                  <a:srgbClr val="00FF66"/>
                </a:solidFill>
              </a:defRPr>
            </a:pPr>
            <a:r>
              <a:t>🧠 AI, ML &amp; Speech Engine</a:t>
            </a:r>
          </a:p>
          <a:p>
            <a:pPr>
              <a:defRPr sz="1000">
                <a:solidFill>
                  <a:srgbClr val="FFFFFF"/>
                </a:solidFill>
              </a:defRPr>
            </a:pPr>
            <a:r>
              <a:t>✓  Groq — Fast LLM inference engine</a:t>
            </a:r>
          </a:p>
          <a:p>
            <a:pPr>
              <a:defRPr sz="1000">
                <a:solidFill>
                  <a:srgbClr val="FFFFFF"/>
                </a:solidFill>
              </a:defRPr>
            </a:pPr>
            <a:r>
              <a:t>✓  Llama 3.3 70B — Primary AI brain</a:t>
            </a:r>
          </a:p>
          <a:p>
            <a:pPr>
              <a:defRPr sz="1000">
                <a:solidFill>
                  <a:srgbClr val="FFFFFF"/>
                </a:solidFill>
              </a:defRPr>
            </a:pPr>
            <a:r>
              <a:t>✓  Llama 4 Vision — Crop disease AI</a:t>
            </a:r>
          </a:p>
          <a:p>
            <a:pPr>
              <a:defRPr sz="1000">
                <a:solidFill>
                  <a:srgbClr val="FFFFFF"/>
                </a:solidFill>
              </a:defRPr>
            </a:pPr>
            <a:r>
              <a:t>✓  Vapi.ai SDK — Real-time voice agent</a:t>
            </a:r>
          </a:p>
          <a:p>
            <a:pPr>
              <a:defRPr sz="1000">
                <a:solidFill>
                  <a:srgbClr val="FFFFFF"/>
                </a:solidFill>
              </a:defRPr>
            </a:pPr>
            <a:r>
              <a:t>✓  XGBoost / RandomForest — Yield ML</a:t>
            </a:r>
          </a:p>
          <a:p>
            <a:pPr>
              <a:defRPr sz="1000">
                <a:solidFill>
                  <a:srgbClr val="FFFFFF"/>
                </a:solidFill>
              </a:defRPr>
            </a:pPr>
            <a:r>
              <a:t>✓  MCP Server — Model Context Protocol</a:t>
            </a:r>
          </a:p>
        </p:txBody>
      </p:sp>
      <p:sp>
        <p:nvSpPr>
          <p:cNvPr id="11" name="Rounded Rectangle 10"/>
          <p:cNvSpPr/>
          <p:nvPr/>
        </p:nvSpPr>
        <p:spPr>
          <a:xfrm>
            <a:off x="6217920" y="365760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794760"/>
            <a:ext cx="4846320" cy="1920240"/>
          </a:xfrm>
          <a:prstGeom prst="rect">
            <a:avLst/>
          </a:prstGeom>
          <a:noFill/>
        </p:spPr>
        <p:txBody>
          <a:bodyPr wrap="square">
            <a:spAutoFit/>
          </a:bodyPr>
          <a:lstStyle/>
          <a:p>
            <a:pPr>
              <a:defRPr sz="1400" b="1">
                <a:solidFill>
                  <a:srgbClr val="00FF66"/>
                </a:solidFill>
              </a:defRPr>
            </a:pPr>
            <a:r>
              <a:t>🔌 External APIs &amp; Cloud</a:t>
            </a:r>
          </a:p>
          <a:p>
            <a:pPr>
              <a:defRPr sz="1000">
                <a:solidFill>
                  <a:srgbClr val="FFFFFF"/>
                </a:solidFill>
              </a:defRPr>
            </a:pPr>
            <a:r>
              <a:t>✓  OpenWeatherMap — Hyperlocal weather</a:t>
            </a:r>
          </a:p>
          <a:p>
            <a:pPr>
              <a:defRPr sz="1000">
                <a:solidFill>
                  <a:srgbClr val="FFFFFF"/>
                </a:solidFill>
              </a:defRPr>
            </a:pPr>
            <a:r>
              <a:t>✓  Google Earth Engine — Sentinel-2 GIS</a:t>
            </a:r>
          </a:p>
          <a:p>
            <a:pPr>
              <a:defRPr sz="1000">
                <a:solidFill>
                  <a:srgbClr val="FFFFFF"/>
                </a:solidFill>
              </a:defRPr>
            </a:pPr>
            <a:r>
              <a:t>✓  Meta Graph API — WhatsApp cloud</a:t>
            </a:r>
          </a:p>
          <a:p>
            <a:pPr>
              <a:defRPr sz="1000">
                <a:solidFill>
                  <a:srgbClr val="FFFFFF"/>
                </a:solidFill>
              </a:defRPr>
            </a:pPr>
            <a:r>
              <a:t>✓  Twilio REST — WhatsApp fallback</a:t>
            </a:r>
          </a:p>
          <a:p>
            <a:pPr>
              <a:defRPr sz="1000">
                <a:solidFill>
                  <a:srgbClr val="FFFFFF"/>
                </a:solidFill>
              </a:defRPr>
            </a:pPr>
            <a:r>
              <a:t>✓  Clerk Auth — User session &amp; JWT</a:t>
            </a:r>
          </a:p>
          <a:p>
            <a:pPr>
              <a:defRPr sz="1000">
                <a:solidFill>
                  <a:srgbClr val="FFFFFF"/>
                </a:solidFill>
              </a:defRPr>
            </a:pPr>
            <a:r>
              <a:t>✓  Vapi.ai — WebRTC Voice calling</a:t>
            </a:r>
          </a:p>
        </p:txBody>
      </p:sp>
      <p:sp>
        <p:nvSpPr>
          <p:cNvPr id="13" name="Rounded Rectangle 12"/>
          <p:cNvSpPr/>
          <p:nvPr/>
        </p:nvSpPr>
        <p:spPr>
          <a:xfrm>
            <a:off x="731520" y="5943600"/>
            <a:ext cx="10728655" cy="548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89320"/>
            <a:ext cx="10362895" cy="457200"/>
          </a:xfrm>
          <a:prstGeom prst="rect">
            <a:avLst/>
          </a:prstGeom>
          <a:noFill/>
        </p:spPr>
        <p:txBody>
          <a:bodyPr wrap="none">
            <a:spAutoFit/>
          </a:bodyPr>
          <a:lstStyle/>
          <a:p>
            <a:pPr algn="ctr">
              <a:defRPr sz="1100" b="1">
                <a:solidFill>
                  <a:srgbClr val="F59E0B"/>
                </a:solidFill>
              </a:defRPr>
            </a:pPr>
            <a:r>
              <a:t>⚡ 50+ Open-Source Libraries  |  15+ Integrated APIs  |  11 Specialized AI Tools  |  4 Delivery Platforms (Web, Mobile, WhatsApp, Voice)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BACKEND ARCHITECTURE</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FastAPI &amp; AI Agent System Architecture</a:t>
            </a:r>
          </a:p>
        </p:txBody>
      </p:sp>
      <p:sp>
        <p:nvSpPr>
          <p:cNvPr id="5" name="Rounded Rectangle 4"/>
          <p:cNvSpPr/>
          <p:nvPr/>
        </p:nvSpPr>
        <p:spPr>
          <a:xfrm>
            <a:off x="731520" y="1280160"/>
            <a:ext cx="685800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4937760"/>
          </a:xfrm>
          <a:prstGeom prst="rect">
            <a:avLst/>
          </a:prstGeom>
          <a:noFill/>
        </p:spPr>
        <p:txBody>
          <a:bodyPr wrap="square">
            <a:spAutoFit/>
          </a:bodyPr>
          <a:lstStyle/>
          <a:p>
            <a:pPr>
              <a:defRPr sz="1600" b="1">
                <a:solidFill>
                  <a:srgbClr val="00FF66"/>
                </a:solidFill>
              </a:defRPr>
            </a:pPr>
            <a:r>
              <a:t>Core Architecture Components</a:t>
            </a:r>
          </a:p>
          <a:p>
            <a:br/>
            <a:pPr>
              <a:defRPr sz="1200" b="1">
                <a:solidFill>
                  <a:srgbClr val="FFFFFF"/>
                </a:solidFill>
              </a:defRPr>
            </a:pPr>
            <a:r>
              <a:t>🤖 AI Agent Engine (app/core/agent.py)</a:t>
            </a:r>
          </a:p>
          <a:p>
            <a:pPr>
              <a:defRPr sz="1000">
                <a:solidFill>
                  <a:srgbClr val="D1D5DB"/>
                </a:solidFill>
              </a:defRPr>
            </a:pPr>
            <a:r>
              <a:t>Central router with 11 specialized tools. Implements tool-calling with Groq LLMs (Llama 3.3 70B primary, 8B fallback). Smart rate-limiting &amp; regex JSON repair.</a:t>
            </a:r>
          </a:p>
          <a:p>
            <a:br/>
            <a:pPr>
              <a:defRPr sz="1200" b="1">
                <a:solidFill>
                  <a:srgbClr val="FFFFFF"/>
                </a:solidFill>
              </a:defRPr>
            </a:pPr>
            <a:r>
              <a:t>🛠️ 11 Specialized Tools (app/services/)</a:t>
            </a:r>
          </a:p>
          <a:p>
            <a:pPr>
              <a:defRPr sz="1000">
                <a:solidFill>
                  <a:srgbClr val="D1D5DB"/>
                </a:solidFill>
              </a:defRPr>
            </a:pPr>
            <a:r>
              <a:t>Weather, Market, Disease, Yield, Pest, Schemes, Crop Advice, Irrigation, Soil, Voice Transcribe, Commodity Trends.</a:t>
            </a:r>
          </a:p>
          <a:p>
            <a:br/>
            <a:pPr>
              <a:defRPr sz="1200" b="1">
                <a:solidFill>
                  <a:srgbClr val="FFFFFF"/>
                </a:solidFill>
              </a:defRPr>
            </a:pPr>
            <a:r>
              <a:t>⚡ Smart Bypass Mechanism</a:t>
            </a:r>
          </a:p>
          <a:p>
            <a:pPr>
              <a:defRPr sz="1000">
                <a:solidFill>
                  <a:srgbClr val="D1D5DB"/>
                </a:solidFill>
              </a:defRPr>
            </a:pPr>
            <a:r>
              <a:t>Keyword routing ('weather', 'mausam', 'bhav') skips LLM for direct python function calls. Reduces latency from 3-4s to &lt;1s for critical queries.</a:t>
            </a:r>
          </a:p>
          <a:p>
            <a:br/>
            <a:pPr>
              <a:defRPr sz="1200" b="1">
                <a:solidFill>
                  <a:srgbClr val="FFFFFF"/>
                </a:solidFill>
              </a:defRPr>
            </a:pPr>
            <a:r>
              <a:t>🌐 API Endpoint Architecture</a:t>
            </a:r>
          </a:p>
          <a:p>
            <a:pPr>
              <a:defRPr sz="1000">
                <a:solidFill>
                  <a:srgbClr val="D1D5DB"/>
                </a:solidFill>
              </a:defRPr>
            </a:pPr>
            <a:r>
              <a:t>/api/web (REST), /api/whatsapp (Webhook), /api/vapi (Voice agent), /api/vendor (Marketplace), /api/mcp (MCP Server), /api/ml (Predictions), /api/location (Heatmap).</a:t>
            </a:r>
          </a:p>
        </p:txBody>
      </p:sp>
      <p:sp>
        <p:nvSpPr>
          <p:cNvPr id="7" name="Rounded Rectangle 6"/>
          <p:cNvSpPr/>
          <p:nvPr/>
        </p:nvSpPr>
        <p:spPr>
          <a:xfrm>
            <a:off x="7863840" y="1280160"/>
            <a:ext cx="3566160" cy="24688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371600"/>
            <a:ext cx="3200400" cy="2286000"/>
          </a:xfrm>
          <a:prstGeom prst="rect">
            <a:avLst/>
          </a:prstGeom>
          <a:noFill/>
        </p:spPr>
        <p:txBody>
          <a:bodyPr wrap="square">
            <a:spAutoFit/>
          </a:bodyPr>
          <a:lstStyle/>
          <a:p>
            <a:pPr>
              <a:defRPr sz="1500" b="1">
                <a:solidFill>
                  <a:srgbClr val="00FF66"/>
                </a:solidFill>
              </a:defRPr>
            </a:pPr>
            <a:r>
              <a:t>💬 WhatsApp Integration</a:t>
            </a:r>
          </a:p>
          <a:p>
            <a:pPr>
              <a:defRPr sz="1000">
                <a:solidFill>
                  <a:srgbClr val="FFFFFF"/>
                </a:solidFill>
              </a:defRPr>
            </a:pPr>
            <a:r>
              <a:t>• Dual Provider Support: Meta Cloud API + Twilio REST fallback</a:t>
            </a:r>
          </a:p>
          <a:p>
            <a:pPr>
              <a:defRPr sz="1000">
                <a:solidFill>
                  <a:srgbClr val="FFFFFF"/>
                </a:solidFill>
              </a:defRPr>
            </a:pPr>
            <a:r>
              <a:t>• Rich Media Handling: Photos -&gt; Vision AI, Voice -&gt; Whisper</a:t>
            </a:r>
          </a:p>
          <a:p>
            <a:pPr>
              <a:defRPr sz="1000">
                <a:solidFill>
                  <a:srgbClr val="FFFFFF"/>
                </a:solidFill>
              </a:defRPr>
            </a:pPr>
            <a:r>
              <a:t>• Smart Context: Persists farmer GPS &amp; language preferences</a:t>
            </a:r>
          </a:p>
        </p:txBody>
      </p:sp>
      <p:sp>
        <p:nvSpPr>
          <p:cNvPr id="9" name="Rounded Rectangle 8"/>
          <p:cNvSpPr/>
          <p:nvPr/>
        </p:nvSpPr>
        <p:spPr>
          <a:xfrm>
            <a:off x="7863840" y="3931920"/>
            <a:ext cx="3566160" cy="24688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4023360"/>
            <a:ext cx="3200400" cy="2286000"/>
          </a:xfrm>
          <a:prstGeom prst="rect">
            <a:avLst/>
          </a:prstGeom>
          <a:noFill/>
        </p:spPr>
        <p:txBody>
          <a:bodyPr wrap="square">
            <a:spAutoFit/>
          </a:bodyPr>
          <a:lstStyle/>
          <a:p>
            <a:pPr>
              <a:defRPr sz="1500" b="1">
                <a:solidFill>
                  <a:srgbClr val="F59E0B"/>
                </a:solidFill>
              </a:defRPr>
            </a:pPr>
            <a:r>
              <a:t>🗄️ Database &amp; User Layer</a:t>
            </a:r>
          </a:p>
          <a:p>
            <a:pPr>
              <a:defRPr sz="1000">
                <a:solidFill>
                  <a:srgbClr val="FFFFFF"/>
                </a:solidFill>
              </a:defRPr>
            </a:pPr>
            <a:r>
              <a:t>• SQLAlchemy ORM: PostgreSQL production, SQLite local dev</a:t>
            </a:r>
          </a:p>
          <a:p>
            <a:pPr>
              <a:defRPr sz="1000">
                <a:solidFill>
                  <a:srgbClr val="FFFFFF"/>
                </a:solidFill>
              </a:defRPr>
            </a:pPr>
            <a:r>
              <a:t>• FarmerLocation Model: Stores (lat, lon) for geographic advisory</a:t>
            </a:r>
          </a:p>
          <a:p>
            <a:pPr>
              <a:defRPr sz="1000">
                <a:solidFill>
                  <a:srgbClr val="FFFFFF"/>
                </a:solidFill>
              </a:defRPr>
            </a:pPr>
            <a:r>
              <a:t>• Vendor &amp; Product Models: B2B vendor profiles, GST &amp; requirements</a:t>
            </a:r>
          </a:p>
          <a:p>
            <a:pPr>
              <a:defRPr sz="1000">
                <a:solidFill>
                  <a:srgbClr val="FFFFFF"/>
                </a:solidFill>
              </a:defRPr>
            </a:pPr>
            <a:r>
              <a:t>• User Authentication: Clerk integration with JWT webhook sync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ML MODELS &amp; PREDICTIONS</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Machine Learning Yield Prediction Engine</a:t>
            </a:r>
          </a:p>
        </p:txBody>
      </p:sp>
      <p:sp>
        <p:nvSpPr>
          <p:cNvPr id="5" name="Rounded Rectangle 4"/>
          <p:cNvSpPr/>
          <p:nvPr/>
        </p:nvSpPr>
        <p:spPr>
          <a:xfrm>
            <a:off x="731520" y="1280160"/>
            <a:ext cx="685800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4937760"/>
          </a:xfrm>
          <a:prstGeom prst="rect">
            <a:avLst/>
          </a:prstGeom>
          <a:noFill/>
        </p:spPr>
        <p:txBody>
          <a:bodyPr wrap="square">
            <a:spAutoFit/>
          </a:bodyPr>
          <a:lstStyle/>
          <a:p>
            <a:pPr>
              <a:defRPr sz="1600" b="1">
                <a:solidFill>
                  <a:srgbClr val="00FF66"/>
                </a:solidFill>
              </a:defRPr>
            </a:pPr>
            <a:r>
              <a:t>Yield Prediction Model Architecture</a:t>
            </a:r>
          </a:p>
          <a:p>
            <a:pPr>
              <a:defRPr sz="1100">
                <a:solidFill>
                  <a:srgbClr val="FFFFFF"/>
                </a:solidFill>
              </a:defRPr>
            </a:pPr>
            <a:r>
              <a:t>Gradient boosting ensemble (XGBoost / RandomForestRegressor with 300+ estimators). Trained on 10+ years of authentic ICAR agricultural district data.</a:t>
            </a:r>
          </a:p>
          <a:p>
            <a:br/>
            <a:pPr>
              <a:defRPr sz="1200" b="1">
                <a:solidFill>
                  <a:srgbClr val="F59E0B"/>
                </a:solidFill>
              </a:defRPr>
            </a:pPr>
            <a:r>
              <a:t>Input Features Matrix (15 Agronomic Signals):</a:t>
            </a:r>
          </a:p>
          <a:p>
            <a:pPr>
              <a:defRPr sz="1000">
                <a:solidFill>
                  <a:srgbClr val="D1D5DB"/>
                </a:solidFill>
              </a:defRPr>
            </a:pPr>
            <a:r>
              <a:t>• Temperature (avg, min, max)  • Rainfall (total, distribution)  • Soil pH, NPK levels  • Organic Carbon Content  • 8-Week NDVI Time Series  • Crop Type &amp; Variety  • Sowing Date &amp; District</a:t>
            </a:r>
          </a:p>
          <a:p>
            <a:br/>
            <a:pPr>
              <a:defRPr sz="1200" b="1">
                <a:solidFill>
                  <a:srgbClr val="00FF66"/>
                </a:solidFill>
              </a:defRPr>
            </a:pPr>
            <a:r>
              <a:t>Model Accuracy Metrics:</a:t>
            </a:r>
          </a:p>
          <a:p>
            <a:pPr>
              <a:defRPr sz="1100">
                <a:solidFill>
                  <a:srgbClr val="FFFFFF"/>
                </a:solidFill>
              </a:defRPr>
            </a:pPr>
            <a:r>
              <a:t>✓  R² Score: 0.92 (92% Prediction Accuracy)</a:t>
            </a:r>
            <a:br/>
            <a:r>
              <a:t>✓  MAE: 0.42 quintals/hectare</a:t>
            </a:r>
            <a:br/>
            <a:r>
              <a:t>✓  RMSE: 0.58 quintals/hectare</a:t>
            </a:r>
            <a:br/>
            <a:r>
              <a:t>✓  Crop Specific Accuracy: Wheat 94%, Rice 91%, Sugarcane 93%, Cotton 89%</a:t>
            </a:r>
          </a:p>
        </p:txBody>
      </p:sp>
      <p:sp>
        <p:nvSpPr>
          <p:cNvPr id="7" name="Rounded Rectangle 6"/>
          <p:cNvSpPr/>
          <p:nvPr/>
        </p:nvSpPr>
        <p:spPr>
          <a:xfrm>
            <a:off x="7863840" y="1280160"/>
            <a:ext cx="3566160" cy="24688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371600"/>
            <a:ext cx="3200400" cy="2286000"/>
          </a:xfrm>
          <a:prstGeom prst="rect">
            <a:avLst/>
          </a:prstGeom>
          <a:noFill/>
        </p:spPr>
        <p:txBody>
          <a:bodyPr wrap="square">
            <a:spAutoFit/>
          </a:bodyPr>
          <a:lstStyle/>
          <a:p>
            <a:pPr>
              <a:defRPr sz="1500" b="1">
                <a:solidFill>
                  <a:srgbClr val="00FF66"/>
                </a:solidFill>
              </a:defRPr>
            </a:pPr>
            <a:r>
              <a:t>🛰️ Satellite Data GIS Integration</a:t>
            </a:r>
          </a:p>
          <a:p>
            <a:pPr>
              <a:defRPr sz="1000">
                <a:solidFill>
                  <a:srgbClr val="FFFFFF"/>
                </a:solidFill>
              </a:defRPr>
            </a:pPr>
            <a:r>
              <a:t>• Sentinel-2 NDVI: 10m resolution, 5-day revisit vegetation health index (r=0.78 correlation)</a:t>
            </a:r>
          </a:p>
          <a:p>
            <a:pPr>
              <a:defRPr sz="1000">
                <a:solidFill>
                  <a:srgbClr val="FFFFFF"/>
                </a:solidFill>
              </a:defRPr>
            </a:pPr>
            <a:r>
              <a:t>• Google Earth Engine: GEE API integration (gee_service.py) for field boundaries &amp; pixel analysis</a:t>
            </a:r>
          </a:p>
        </p:txBody>
      </p:sp>
      <p:sp>
        <p:nvSpPr>
          <p:cNvPr id="9" name="Rounded Rectangle 8"/>
          <p:cNvSpPr/>
          <p:nvPr/>
        </p:nvSpPr>
        <p:spPr>
          <a:xfrm>
            <a:off x="7863840" y="3931920"/>
            <a:ext cx="3566160" cy="24688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4023360"/>
            <a:ext cx="3200400" cy="2286000"/>
          </a:xfrm>
          <a:prstGeom prst="rect">
            <a:avLst/>
          </a:prstGeom>
          <a:noFill/>
        </p:spPr>
        <p:txBody>
          <a:bodyPr wrap="square">
            <a:spAutoFit/>
          </a:bodyPr>
          <a:lstStyle/>
          <a:p>
            <a:pPr>
              <a:defRPr sz="1500" b="1">
                <a:solidFill>
                  <a:srgbClr val="F59E0B"/>
                </a:solidFill>
              </a:defRPr>
            </a:pPr>
            <a:r>
              <a:t>📦 Model Deployment</a:t>
            </a:r>
          </a:p>
          <a:p>
            <a:pPr>
              <a:defRPr sz="1000">
                <a:solidFill>
                  <a:srgbClr val="FFFFFF"/>
                </a:solidFill>
              </a:defRPr>
            </a:pPr>
            <a:r>
              <a:t>• Joblib .pkl Serialization: Saved as crop_model_v2.pkl for fast loading</a:t>
            </a:r>
          </a:p>
          <a:p>
            <a:pPr>
              <a:defRPr sz="1000">
                <a:solidFill>
                  <a:srgbClr val="FFFFFF"/>
                </a:solidFill>
              </a:defRPr>
            </a:pPr>
            <a:r>
              <a:t>• FastAPI /api/ml/predict: &lt;180ms p95 API response time</a:t>
            </a:r>
          </a:p>
          <a:p>
            <a:pPr>
              <a:defRPr sz="1000">
                <a:solidFill>
                  <a:srgbClr val="FFFFFF"/>
                </a:solidFill>
              </a:defRPr>
            </a:pPr>
            <a:r>
              <a:t>• Model Inference Latency: Sub-45ms inference time per query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SYSTEM ARCHITECTURE</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End-to-End Architecture &amp; Infrastructure Flow</a:t>
            </a:r>
          </a:p>
        </p:txBody>
      </p:sp>
      <p:sp>
        <p:nvSpPr>
          <p:cNvPr id="5" name="Rounded Rectangle 4"/>
          <p:cNvSpPr/>
          <p:nvPr/>
        </p:nvSpPr>
        <p:spPr>
          <a:xfrm>
            <a:off x="731520" y="1280160"/>
            <a:ext cx="10728655" cy="14630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62895" cy="1280160"/>
          </a:xfrm>
          <a:prstGeom prst="rect">
            <a:avLst/>
          </a:prstGeom>
          <a:noFill/>
        </p:spPr>
        <p:txBody>
          <a:bodyPr wrap="square">
            <a:spAutoFit/>
          </a:bodyPr>
          <a:lstStyle/>
          <a:p>
            <a:pPr>
              <a:defRPr sz="1500" b="1">
                <a:solidFill>
                  <a:srgbClr val="00FF66"/>
                </a:solidFill>
              </a:defRPr>
            </a:pPr>
            <a:r>
              <a:t>⚡ Complete System Data Flow Architecture</a:t>
            </a:r>
          </a:p>
          <a:p>
            <a:br/>
            <a:pPr>
              <a:defRPr sz="1100">
                <a:solidFill>
                  <a:srgbClr val="FFFFFF"/>
                </a:solidFill>
              </a:defRPr>
            </a:pPr>
            <a:r>
              <a:t>[Client Layer: React Web App | WhatsApp Bot | Vapi Voice | Expo Mobile] </a:t>
            </a:r>
            <a:br/>
            <a:r>
              <a:t>  └──&gt; [API Gateway: Clerk Auth &amp; NGINX Rate Limiter] </a:t>
            </a:r>
            <a:br/>
            <a:r>
              <a:t>        └──&gt; [FastAPI Backend: AI Agent Engine + 11 Tools + ML Pipeline] </a:t>
            </a:r>
            <a:br/>
            <a:r>
              <a:t>              └──&gt; [Data Layer: PostgreSQL DB | Redis Cache | GEE Cloud Satellite]</a:t>
            </a:r>
          </a:p>
        </p:txBody>
      </p:sp>
      <p:sp>
        <p:nvSpPr>
          <p:cNvPr id="7" name="Rounded Rectangle 6"/>
          <p:cNvSpPr/>
          <p:nvPr/>
        </p:nvSpPr>
        <p:spPr>
          <a:xfrm>
            <a:off x="731520" y="2926080"/>
            <a:ext cx="5212080" cy="34747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4846320" cy="3291840"/>
          </a:xfrm>
          <a:prstGeom prst="rect">
            <a:avLst/>
          </a:prstGeom>
          <a:noFill/>
        </p:spPr>
        <p:txBody>
          <a:bodyPr wrap="square">
            <a:spAutoFit/>
          </a:bodyPr>
          <a:lstStyle/>
          <a:p>
            <a:pPr>
              <a:defRPr sz="1500" b="1">
                <a:solidFill>
                  <a:srgbClr val="F59E0B"/>
                </a:solidFill>
              </a:defRPr>
            </a:pPr>
            <a:r>
              <a:t>☁️ Cloud &amp; Infrastructure Strategy</a:t>
            </a:r>
          </a:p>
          <a:p>
            <a:br/>
            <a:pPr>
              <a:defRPr sz="1100" b="1">
                <a:solidFill>
                  <a:srgbClr val="FFFFFF"/>
                </a:solidFill>
              </a:defRPr>
            </a:pPr>
            <a:r>
              <a:t>• Multi-Region Cloud Deployment</a:t>
            </a:r>
          </a:p>
          <a:p>
            <a:pPr>
              <a:defRPr sz="1000">
                <a:solidFill>
                  <a:srgbClr val="D1D5DB"/>
                </a:solidFill>
              </a:defRPr>
            </a:pPr>
            <a:r>
              <a:t>AWS / GCP Mumbai &amp; Delhi regions for ultra-low latency across India.</a:t>
            </a:r>
          </a:p>
          <a:p>
            <a:br/>
            <a:pPr>
              <a:defRPr sz="1100" b="1">
                <a:solidFill>
                  <a:srgbClr val="FFFFFF"/>
                </a:solidFill>
              </a:defRPr>
            </a:pPr>
            <a:r>
              <a:t>• Kubernetes Pod Orchestration</a:t>
            </a:r>
          </a:p>
          <a:p>
            <a:pPr>
              <a:defRPr sz="1000">
                <a:solidFill>
                  <a:srgbClr val="D1D5DB"/>
                </a:solidFill>
              </a:defRPr>
            </a:pPr>
            <a:r>
              <a:t>Auto-scaling microservice containers based on traffic load.</a:t>
            </a:r>
          </a:p>
          <a:p>
            <a:br/>
            <a:pPr>
              <a:defRPr sz="1100" b="1">
                <a:solidFill>
                  <a:srgbClr val="FFFFFF"/>
                </a:solidFill>
              </a:defRPr>
            </a:pPr>
            <a:r>
              <a:t>• Docker Containerization</a:t>
            </a:r>
          </a:p>
          <a:p>
            <a:pPr>
              <a:defRPr sz="1000">
                <a:solidFill>
                  <a:srgbClr val="D1D5DB"/>
                </a:solidFill>
              </a:defRPr>
            </a:pPr>
            <a:r>
              <a:t>Modular Docker containers for backend, frontend, and worker processes.</a:t>
            </a:r>
          </a:p>
          <a:p>
            <a:br/>
            <a:pPr>
              <a:defRPr sz="1100" b="1">
                <a:solidFill>
                  <a:srgbClr val="FFFFFF"/>
                </a:solidFill>
              </a:defRPr>
            </a:pPr>
            <a:r>
              <a:t>• CI/CD Automation Pipeline</a:t>
            </a:r>
          </a:p>
          <a:p>
            <a:pPr>
              <a:defRPr sz="1000">
                <a:solidFill>
                  <a:srgbClr val="D1D5DB"/>
                </a:solidFill>
              </a:defRPr>
            </a:pPr>
            <a:r>
              <a:t>GitHub Actions -&gt; Docker Hub -&gt; Kubernetes zero-downtime deployment.</a:t>
            </a:r>
          </a:p>
        </p:txBody>
      </p:sp>
      <p:sp>
        <p:nvSpPr>
          <p:cNvPr id="9" name="Rounded Rectangle 8"/>
          <p:cNvSpPr/>
          <p:nvPr/>
        </p:nvSpPr>
        <p:spPr>
          <a:xfrm>
            <a:off x="6217920" y="2926080"/>
            <a:ext cx="5212080" cy="347472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017520"/>
            <a:ext cx="4846320" cy="3291840"/>
          </a:xfrm>
          <a:prstGeom prst="rect">
            <a:avLst/>
          </a:prstGeom>
          <a:noFill/>
        </p:spPr>
        <p:txBody>
          <a:bodyPr wrap="square">
            <a:spAutoFit/>
          </a:bodyPr>
          <a:lstStyle/>
          <a:p>
            <a:pPr>
              <a:defRPr sz="1500" b="1">
                <a:solidFill>
                  <a:srgbClr val="00FF66"/>
                </a:solidFill>
              </a:defRPr>
            </a:pPr>
            <a:r>
              <a:t>🔌 Production SLAs &amp; External Integrations</a:t>
            </a:r>
          </a:p>
          <a:p>
            <a:br/>
            <a:pPr>
              <a:defRPr sz="1100" b="1">
                <a:solidFill>
                  <a:srgbClr val="FFFFFF"/>
                </a:solidFill>
              </a:defRPr>
            </a:pPr>
            <a:r>
              <a:t>• 99.9% Uptime SLA</a:t>
            </a:r>
          </a:p>
          <a:p>
            <a:pPr>
              <a:defRPr sz="1000">
                <a:solidFill>
                  <a:srgbClr val="D1D5DB"/>
                </a:solidFill>
              </a:defRPr>
            </a:pPr>
            <a:r>
              <a:t>High-availability multi-region hosting.</a:t>
            </a:r>
          </a:p>
          <a:p>
            <a:br/>
            <a:pPr>
              <a:defRPr sz="1100" b="1">
                <a:solidFill>
                  <a:srgbClr val="FFFFFF"/>
                </a:solidFill>
              </a:defRPr>
            </a:pPr>
            <a:r>
              <a:t>• &lt;180ms API Response</a:t>
            </a:r>
          </a:p>
          <a:p>
            <a:pPr>
              <a:defRPr sz="1000">
                <a:solidFill>
                  <a:srgbClr val="D1D5DB"/>
                </a:solidFill>
              </a:defRPr>
            </a:pPr>
            <a:r>
              <a:t>p95 response speed for core endpoints.</a:t>
            </a:r>
          </a:p>
          <a:p>
            <a:br/>
            <a:pPr>
              <a:defRPr sz="1100" b="1">
                <a:solidFill>
                  <a:srgbClr val="FFFFFF"/>
                </a:solidFill>
              </a:defRPr>
            </a:pPr>
            <a:r>
              <a:t>• 10K+ Req/Second</a:t>
            </a:r>
          </a:p>
          <a:p>
            <a:pPr>
              <a:defRPr sz="1000">
                <a:solidFill>
                  <a:srgbClr val="D1D5DB"/>
                </a:solidFill>
              </a:defRPr>
            </a:pPr>
            <a:r>
              <a:t>Auto-scaling infrastructure for peak traffic.</a:t>
            </a:r>
          </a:p>
          <a:p>
            <a:br/>
            <a:pPr>
              <a:defRPr sz="1100" b="1">
                <a:solidFill>
                  <a:srgbClr val="FFFFFF"/>
                </a:solidFill>
              </a:defRPr>
            </a:pPr>
            <a:r>
              <a:t>• External Integrations</a:t>
            </a:r>
          </a:p>
          <a:p>
            <a:pPr>
              <a:defRPr sz="1000">
                <a:solidFill>
                  <a:srgbClr val="D1D5DB"/>
                </a:solidFill>
              </a:defRPr>
            </a:pPr>
            <a:r>
              <a:t>OpenWeatherMap, Sentinel-2 GEE, Twilio, Meta, Groq, Vapi.ai, Clerk Auth.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KEY FEATURES</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Multilingual AI, Voice &amp; Multichannel Capabilities</a:t>
            </a:r>
          </a:p>
        </p:txBody>
      </p:sp>
      <p:sp>
        <p:nvSpPr>
          <p:cNvPr id="5" name="Rounded Rectangle 4"/>
          <p:cNvSpPr/>
          <p:nvPr/>
        </p:nvSpPr>
        <p:spPr>
          <a:xfrm>
            <a:off x="731520" y="1280160"/>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2011680"/>
          </a:xfrm>
          <a:prstGeom prst="rect">
            <a:avLst/>
          </a:prstGeom>
          <a:noFill/>
        </p:spPr>
        <p:txBody>
          <a:bodyPr wrap="square">
            <a:spAutoFit/>
          </a:bodyPr>
          <a:lstStyle/>
          <a:p>
            <a:pPr>
              <a:defRPr sz="1400" b="1">
                <a:solidFill>
                  <a:srgbClr val="00FF66"/>
                </a:solidFill>
              </a:defRPr>
            </a:pPr>
            <a:r>
              <a:t>🤖 Multilingual AI Chatbot</a:t>
            </a:r>
          </a:p>
          <a:p>
            <a:br/>
            <a:pPr>
              <a:defRPr sz="1100">
                <a:solidFill>
                  <a:srgbClr val="FFFFFF"/>
                </a:solidFill>
              </a:defRPr>
            </a:pPr>
            <a:r>
              <a:t>Conversational AI supporting Hindi, English, Gujarati, Marathi, and more. Powered by Llama 3.3 70B.</a:t>
            </a:r>
          </a:p>
        </p:txBody>
      </p:sp>
      <p:sp>
        <p:nvSpPr>
          <p:cNvPr id="7" name="Rounded Rectangle 6"/>
          <p:cNvSpPr/>
          <p:nvPr/>
        </p:nvSpPr>
        <p:spPr>
          <a:xfrm>
            <a:off x="4389120" y="1280160"/>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108960" cy="2011680"/>
          </a:xfrm>
          <a:prstGeom prst="rect">
            <a:avLst/>
          </a:prstGeom>
          <a:noFill/>
        </p:spPr>
        <p:txBody>
          <a:bodyPr wrap="square">
            <a:spAutoFit/>
          </a:bodyPr>
          <a:lstStyle/>
          <a:p>
            <a:pPr>
              <a:defRPr sz="1400" b="1">
                <a:solidFill>
                  <a:srgbClr val="00FF66"/>
                </a:solidFill>
              </a:defRPr>
            </a:pPr>
            <a:r>
              <a:t>📞 Live Vapi Voice Assistant</a:t>
            </a:r>
          </a:p>
          <a:p>
            <a:br/>
            <a:pPr>
              <a:defRPr sz="1100">
                <a:solidFill>
                  <a:srgbClr val="FFFFFF"/>
                </a:solidFill>
              </a:defRPr>
            </a:pPr>
            <a:r>
              <a:t>Real-time vernacular phone call AI assistant (vapi.py) with full call transcripts and history logs.</a:t>
            </a:r>
          </a:p>
        </p:txBody>
      </p:sp>
      <p:sp>
        <p:nvSpPr>
          <p:cNvPr id="9" name="Rounded Rectangle 8"/>
          <p:cNvSpPr/>
          <p:nvPr/>
        </p:nvSpPr>
        <p:spPr>
          <a:xfrm>
            <a:off x="8046720" y="1280160"/>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108960" cy="2011680"/>
          </a:xfrm>
          <a:prstGeom prst="rect">
            <a:avLst/>
          </a:prstGeom>
          <a:noFill/>
        </p:spPr>
        <p:txBody>
          <a:bodyPr wrap="square">
            <a:spAutoFit/>
          </a:bodyPr>
          <a:lstStyle/>
          <a:p>
            <a:pPr>
              <a:defRPr sz="1400" b="1">
                <a:solidFill>
                  <a:srgbClr val="00FF66"/>
                </a:solidFill>
              </a:defRPr>
            </a:pPr>
            <a:r>
              <a:t>💬 WhatsApp Integration</a:t>
            </a:r>
          </a:p>
          <a:p>
            <a:br/>
            <a:pPr>
              <a:defRPr sz="1100">
                <a:solidFill>
                  <a:srgbClr val="FFFFFF"/>
                </a:solidFill>
              </a:defRPr>
            </a:pPr>
            <a:r>
              <a:t>Full WhatsApp bot with photo disease scanning, voice message transcribing, and smart bypass.</a:t>
            </a:r>
          </a:p>
        </p:txBody>
      </p:sp>
      <p:sp>
        <p:nvSpPr>
          <p:cNvPr id="11" name="Rounded Rectangle 10"/>
          <p:cNvSpPr/>
          <p:nvPr/>
        </p:nvSpPr>
        <p:spPr>
          <a:xfrm>
            <a:off x="731520" y="3749039"/>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86199"/>
            <a:ext cx="3108960" cy="2011680"/>
          </a:xfrm>
          <a:prstGeom prst="rect">
            <a:avLst/>
          </a:prstGeom>
          <a:noFill/>
        </p:spPr>
        <p:txBody>
          <a:bodyPr wrap="square">
            <a:spAutoFit/>
          </a:bodyPr>
          <a:lstStyle/>
          <a:p>
            <a:pPr>
              <a:defRPr sz="1400" b="1">
                <a:solidFill>
                  <a:srgbClr val="00FF66"/>
                </a:solidFill>
              </a:defRPr>
            </a:pPr>
            <a:r>
              <a:t>🌦️ Weather Intelligence</a:t>
            </a:r>
          </a:p>
          <a:p>
            <a:br/>
            <a:pPr>
              <a:defRPr sz="1100">
                <a:solidFill>
                  <a:srgbClr val="FFFFFF"/>
                </a:solidFill>
              </a:defRPr>
            </a:pPr>
            <a:r>
              <a:t>Hyperlocal 7-day weather forecasts, rainfall warnings, and temperature trend alerts via OpenWeather.</a:t>
            </a:r>
          </a:p>
        </p:txBody>
      </p:sp>
      <p:sp>
        <p:nvSpPr>
          <p:cNvPr id="13" name="Rounded Rectangle 12"/>
          <p:cNvSpPr/>
          <p:nvPr/>
        </p:nvSpPr>
        <p:spPr>
          <a:xfrm>
            <a:off x="4389120" y="3749039"/>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886199"/>
            <a:ext cx="3108960" cy="2011680"/>
          </a:xfrm>
          <a:prstGeom prst="rect">
            <a:avLst/>
          </a:prstGeom>
          <a:noFill/>
        </p:spPr>
        <p:txBody>
          <a:bodyPr wrap="square">
            <a:spAutoFit/>
          </a:bodyPr>
          <a:lstStyle/>
          <a:p>
            <a:pPr>
              <a:defRPr sz="1400" b="1">
                <a:solidFill>
                  <a:srgbClr val="00FF66"/>
                </a:solidFill>
              </a:defRPr>
            </a:pPr>
            <a:r>
              <a:t>🔍 Vision AI Disease Detection</a:t>
            </a:r>
          </a:p>
          <a:p>
            <a:br/>
            <a:pPr>
              <a:defRPr sz="1100">
                <a:solidFill>
                  <a:srgbClr val="FFFFFF"/>
                </a:solidFill>
              </a:defRPr>
            </a:pPr>
            <a:r>
              <a:t>Upload photo for instant leaf disease diagnosis, scientific identification, and dosage remedies.</a:t>
            </a:r>
          </a:p>
        </p:txBody>
      </p:sp>
      <p:sp>
        <p:nvSpPr>
          <p:cNvPr id="15" name="Rounded Rectangle 14"/>
          <p:cNvSpPr/>
          <p:nvPr/>
        </p:nvSpPr>
        <p:spPr>
          <a:xfrm>
            <a:off x="8046720" y="3749039"/>
            <a:ext cx="3383280" cy="22860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3886199"/>
            <a:ext cx="3108960" cy="2011680"/>
          </a:xfrm>
          <a:prstGeom prst="rect">
            <a:avLst/>
          </a:prstGeom>
          <a:noFill/>
        </p:spPr>
        <p:txBody>
          <a:bodyPr wrap="square">
            <a:spAutoFit/>
          </a:bodyPr>
          <a:lstStyle/>
          <a:p>
            <a:pPr>
              <a:defRPr sz="1400" b="1">
                <a:solidFill>
                  <a:srgbClr val="00FF66"/>
                </a:solidFill>
              </a:defRPr>
            </a:pPr>
            <a:r>
              <a:t>🗺️ Interactive Mandi Map</a:t>
            </a:r>
          </a:p>
          <a:p>
            <a:br/>
            <a:pPr>
              <a:defRPr sz="1100">
                <a:solidFill>
                  <a:srgbClr val="FFFFFF"/>
                </a:solidFill>
              </a:defRPr>
            </a:pPr>
            <a:r>
              <a:t>Leaflet-based interactive map showing nearby APMC markets, live commodity prices, and navigation.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FEATURE HIGHLIGHT</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B2B Multi-Vendor Marketplace &amp; Agri-Ecosystem</a:t>
            </a:r>
          </a:p>
        </p:txBody>
      </p:sp>
      <p:sp>
        <p:nvSpPr>
          <p:cNvPr id="5" name="Rounded Rectangle 4"/>
          <p:cNvSpPr/>
          <p:nvPr/>
        </p:nvSpPr>
        <p:spPr>
          <a:xfrm>
            <a:off x="731520" y="1280160"/>
            <a:ext cx="521208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937760"/>
          </a:xfrm>
          <a:prstGeom prst="rect">
            <a:avLst/>
          </a:prstGeom>
          <a:noFill/>
        </p:spPr>
        <p:txBody>
          <a:bodyPr wrap="square">
            <a:spAutoFit/>
          </a:bodyPr>
          <a:lstStyle/>
          <a:p>
            <a:pPr>
              <a:defRPr sz="1600" b="1">
                <a:solidFill>
                  <a:srgbClr val="00FF66"/>
                </a:solidFill>
              </a:defRPr>
            </a:pPr>
            <a:r>
              <a:t>🏪 B2B Vendor Management Engine</a:t>
            </a:r>
          </a:p>
          <a:p>
            <a:br/>
            <a:pPr>
              <a:defRPr sz="1200" b="1">
                <a:solidFill>
                  <a:srgbClr val="FFFFFF"/>
                </a:solidFill>
              </a:defRPr>
            </a:pPr>
            <a:r>
              <a:t>• GST &amp; License KYC Onboarding</a:t>
            </a:r>
          </a:p>
          <a:p>
            <a:pPr>
              <a:defRPr sz="1000">
                <a:solidFill>
                  <a:srgbClr val="D1D5DB"/>
                </a:solidFill>
              </a:defRPr>
            </a:pPr>
            <a:r>
              <a:t>Secure onboarding pipeline (VendorOnboardingPage.jsx) verifying business GST, licenses, and product categories.</a:t>
            </a:r>
          </a:p>
          <a:p>
            <a:br/>
            <a:pPr>
              <a:defRPr sz="1200" b="1">
                <a:solidFill>
                  <a:srgbClr val="FFFFFF"/>
                </a:solidFill>
              </a:defRPr>
            </a:pPr>
            <a:r>
              <a:t>• Product Catalog Management</a:t>
            </a:r>
          </a:p>
          <a:p>
            <a:pPr>
              <a:defRPr sz="1000">
                <a:solidFill>
                  <a:srgbClr val="D1D5DB"/>
                </a:solidFill>
              </a:defRPr>
            </a:pPr>
            <a:r>
              <a:t>Vendors list seeds, fertilizers, machinery, and organic inputs with live inventory, pricing, and specs.</a:t>
            </a:r>
          </a:p>
          <a:p>
            <a:br/>
            <a:pPr>
              <a:defRPr sz="1200" b="1">
                <a:solidFill>
                  <a:srgbClr val="FFFFFF"/>
                </a:solidFill>
              </a:defRPr>
            </a:pPr>
            <a:r>
              <a:t>• Vendor Dashboard Analytics</a:t>
            </a:r>
          </a:p>
          <a:p>
            <a:pPr>
              <a:defRPr sz="1000">
                <a:solidFill>
                  <a:srgbClr val="D1D5DB"/>
                </a:solidFill>
              </a:defRPr>
            </a:pPr>
            <a:r>
              <a:t>Comprehensive vendor analytics dashboard (VendorDashboardPage.jsx) tracking views, inquiries, and orders.</a:t>
            </a:r>
          </a:p>
        </p:txBody>
      </p:sp>
      <p:sp>
        <p:nvSpPr>
          <p:cNvPr id="7" name="Rounded Rectangle 6"/>
          <p:cNvSpPr/>
          <p:nvPr/>
        </p:nvSpPr>
        <p:spPr>
          <a:xfrm>
            <a:off x="6217920" y="1280160"/>
            <a:ext cx="521208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4937760"/>
          </a:xfrm>
          <a:prstGeom prst="rect">
            <a:avLst/>
          </a:prstGeom>
          <a:noFill/>
        </p:spPr>
        <p:txBody>
          <a:bodyPr wrap="square">
            <a:spAutoFit/>
          </a:bodyPr>
          <a:lstStyle/>
          <a:p>
            <a:pPr>
              <a:defRPr sz="1600" b="1">
                <a:solidFill>
                  <a:srgbClr val="F59E0B"/>
                </a:solidFill>
              </a:defRPr>
            </a:pPr>
            <a:r>
              <a:t>🌾 Bulk Crop Requirement Engine</a:t>
            </a:r>
          </a:p>
          <a:p>
            <a:br/>
            <a:pPr>
              <a:defRPr sz="1200" b="1">
                <a:solidFill>
                  <a:srgbClr val="FFFFFF"/>
                </a:solidFill>
              </a:defRPr>
            </a:pPr>
            <a:r>
              <a:t>• Bulk Requirement Posting</a:t>
            </a:r>
          </a:p>
          <a:p>
            <a:pPr>
              <a:defRPr sz="1000">
                <a:solidFill>
                  <a:srgbClr val="D1D5DB"/>
                </a:solidFill>
              </a:defRPr>
            </a:pPr>
            <a:r>
              <a:t>Agri-buyers &amp; vendors post crop purchase requirements (e.g. 'Need 500 Quintals Organic Wheat in Rajkot').</a:t>
            </a:r>
          </a:p>
          <a:p>
            <a:br/>
            <a:pPr>
              <a:defRPr sz="1200" b="1">
                <a:solidFill>
                  <a:srgbClr val="FFFFFF"/>
                </a:solidFill>
              </a:defRPr>
            </a:pPr>
            <a:r>
              <a:t>• Farmer Application Portal</a:t>
            </a:r>
          </a:p>
          <a:p>
            <a:pPr>
              <a:defRPr sz="1000">
                <a:solidFill>
                  <a:srgbClr val="D1D5DB"/>
                </a:solidFill>
              </a:defRPr>
            </a:pPr>
            <a:r>
              <a:t>Farmers browse active requirements (FarmerBrowseRequirementsPage.jsx) and apply to sell harvest directly.</a:t>
            </a:r>
          </a:p>
          <a:p>
            <a:br/>
            <a:pPr>
              <a:defRPr sz="1200" b="1">
                <a:solidFill>
                  <a:srgbClr val="FFFFFF"/>
                </a:solidFill>
              </a:defRPr>
            </a:pPr>
            <a:r>
              <a:t>• Middlemen Margin Elimination</a:t>
            </a:r>
          </a:p>
          <a:p>
            <a:pPr>
              <a:defRPr sz="1000">
                <a:solidFill>
                  <a:srgbClr val="D1D5DB"/>
                </a:solidFill>
              </a:defRPr>
            </a:pPr>
            <a:r>
              <a:t>Connects farmers directly with institutional buyers, guaranteeing higher profit margins for farmers.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COMMUNITY &amp; INNOVATIONS</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Farmer Social Forum, Heatmaps &amp; Mobile SOS</a:t>
            </a:r>
          </a:p>
        </p:txBody>
      </p:sp>
      <p:sp>
        <p:nvSpPr>
          <p:cNvPr id="5" name="Rounded Rectangle 4"/>
          <p:cNvSpPr/>
          <p:nvPr/>
        </p:nvSpPr>
        <p:spPr>
          <a:xfrm>
            <a:off x="731520" y="128016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846320" cy="1920240"/>
          </a:xfrm>
          <a:prstGeom prst="rect">
            <a:avLst/>
          </a:prstGeom>
          <a:noFill/>
        </p:spPr>
        <p:txBody>
          <a:bodyPr wrap="square">
            <a:spAutoFit/>
          </a:bodyPr>
          <a:lstStyle/>
          <a:p>
            <a:pPr>
              <a:defRPr sz="1500" b="1">
                <a:solidFill>
                  <a:srgbClr val="00FF66"/>
                </a:solidFill>
              </a:defRPr>
            </a:pPr>
            <a:r>
              <a:t>👥 Farmer Peer Community Forum</a:t>
            </a:r>
          </a:p>
          <a:p>
            <a:br/>
            <a:pPr>
              <a:defRPr sz="1100">
                <a:solidFill>
                  <a:srgbClr val="FFFFFF"/>
                </a:solidFill>
              </a:defRPr>
            </a:pPr>
            <a:r>
              <a:t>Social feed (CommunityPage.jsx / community.py) where farmers share crop photos, ask peer advice, upvote solutions, and filter by topic tags.</a:t>
            </a:r>
          </a:p>
        </p:txBody>
      </p:sp>
      <p:sp>
        <p:nvSpPr>
          <p:cNvPr id="7" name="Rounded Rectangle 6"/>
          <p:cNvSpPr/>
          <p:nvPr/>
        </p:nvSpPr>
        <p:spPr>
          <a:xfrm>
            <a:off x="6217920" y="128016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1920240"/>
          </a:xfrm>
          <a:prstGeom prst="rect">
            <a:avLst/>
          </a:prstGeom>
          <a:noFill/>
        </p:spPr>
        <p:txBody>
          <a:bodyPr wrap="square">
            <a:spAutoFit/>
          </a:bodyPr>
          <a:lstStyle/>
          <a:p>
            <a:pPr>
              <a:defRPr sz="1500" b="1">
                <a:solidFill>
                  <a:srgbClr val="00FF66"/>
                </a:solidFill>
              </a:defRPr>
            </a:pPr>
            <a:r>
              <a:t>🗺️ Geographic Query Heatmap</a:t>
            </a:r>
          </a:p>
          <a:p>
            <a:br/>
            <a:pPr>
              <a:defRPr sz="1100">
                <a:solidFill>
                  <a:srgbClr val="FFFFFF"/>
                </a:solidFill>
              </a:defRPr>
            </a:pPr>
            <a:r>
              <a:t>District-level query intensity heatmap and analytics dashboard (FarmerHeatmap.jsx) with CSV export for extension officers.</a:t>
            </a:r>
          </a:p>
        </p:txBody>
      </p:sp>
      <p:sp>
        <p:nvSpPr>
          <p:cNvPr id="9" name="Rounded Rectangle 8"/>
          <p:cNvSpPr/>
          <p:nvPr/>
        </p:nvSpPr>
        <p:spPr>
          <a:xfrm>
            <a:off x="731520" y="365760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846320" cy="1920240"/>
          </a:xfrm>
          <a:prstGeom prst="rect">
            <a:avLst/>
          </a:prstGeom>
          <a:noFill/>
        </p:spPr>
        <p:txBody>
          <a:bodyPr wrap="square">
            <a:spAutoFit/>
          </a:bodyPr>
          <a:lstStyle/>
          <a:p>
            <a:pPr>
              <a:defRPr sz="1500" b="1">
                <a:solidFill>
                  <a:srgbClr val="00FF66"/>
                </a:solidFill>
              </a:defRPr>
            </a:pPr>
            <a:r>
              <a:t>🚨 Emergency Crop SOS Helpline</a:t>
            </a:r>
          </a:p>
          <a:p>
            <a:br/>
            <a:pPr>
              <a:defRPr sz="1100">
                <a:solidFill>
                  <a:srgbClr val="FFFFFF"/>
                </a:solidFill>
              </a:defRPr>
            </a:pPr>
            <a:r>
              <a:t>One-touch emergency helpline button (emergency.tsx on mobile) providing extreme weather alerts and pest infestation support.</a:t>
            </a:r>
          </a:p>
        </p:txBody>
      </p:sp>
      <p:sp>
        <p:nvSpPr>
          <p:cNvPr id="11" name="Rounded Rectangle 10"/>
          <p:cNvSpPr/>
          <p:nvPr/>
        </p:nvSpPr>
        <p:spPr>
          <a:xfrm>
            <a:off x="6217920" y="3657600"/>
            <a:ext cx="5212080" cy="219456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794760"/>
            <a:ext cx="4846320" cy="1920240"/>
          </a:xfrm>
          <a:prstGeom prst="rect">
            <a:avLst/>
          </a:prstGeom>
          <a:noFill/>
        </p:spPr>
        <p:txBody>
          <a:bodyPr wrap="square">
            <a:spAutoFit/>
          </a:bodyPr>
          <a:lstStyle/>
          <a:p>
            <a:pPr>
              <a:defRPr sz="1500" b="1">
                <a:solidFill>
                  <a:srgbClr val="00FF66"/>
                </a:solidFill>
              </a:defRPr>
            </a:pPr>
            <a:r>
              <a:t>🏆 Gamification &amp; Krishi Vidya</a:t>
            </a:r>
          </a:p>
          <a:p>
            <a:br/>
            <a:pPr>
              <a:defRPr sz="1100">
                <a:solidFill>
                  <a:srgbClr val="FFFFFF"/>
                </a:solidFill>
              </a:defRPr>
            </a:pPr>
            <a:r>
              <a:t>Farmer achievement badges (achievements.tsx) for sustainable practices, paired with an educational video portal (learning.tsx).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RESULTS &amp; OBSERVATIONS</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Measured Performance &amp; Pilot Test Results</a:t>
            </a:r>
          </a:p>
        </p:txBody>
      </p:sp>
      <p:sp>
        <p:nvSpPr>
          <p:cNvPr id="5" name="Rounded Rectangle 4"/>
          <p:cNvSpPr/>
          <p:nvPr/>
        </p:nvSpPr>
        <p:spPr>
          <a:xfrm>
            <a:off x="731520" y="1280160"/>
            <a:ext cx="521208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937760"/>
          </a:xfrm>
          <a:prstGeom prst="rect">
            <a:avLst/>
          </a:prstGeom>
          <a:noFill/>
        </p:spPr>
        <p:txBody>
          <a:bodyPr wrap="square">
            <a:spAutoFit/>
          </a:bodyPr>
          <a:lstStyle/>
          <a:p>
            <a:pPr>
              <a:defRPr sz="1600" b="1">
                <a:solidFill>
                  <a:srgbClr val="00FF66"/>
                </a:solidFill>
              </a:defRPr>
            </a:pPr>
            <a:r>
              <a:t>⚡ System Performance Benchmarks</a:t>
            </a:r>
          </a:p>
          <a:p>
            <a:br/>
            <a:pPr>
              <a:defRPr sz="1100">
                <a:solidFill>
                  <a:srgbClr val="FFFFFF"/>
                </a:solidFill>
              </a:defRPr>
            </a:pPr>
            <a:r>
              <a:t>• API Response Time (p95): </a:t>
            </a:r>
            <a:r>
              <a:rPr b="1">
                <a:solidFill>
                  <a:srgbClr val="F59E0B"/>
                </a:solidFill>
              </a:rPr>
              <a:t>180 ms</a:t>
            </a:r>
          </a:p>
          <a:p>
            <a:br/>
            <a:pPr>
              <a:defRPr sz="1100">
                <a:solidFill>
                  <a:srgbClr val="FFFFFF"/>
                </a:solidFill>
              </a:defRPr>
            </a:pPr>
            <a:r>
              <a:t>• Smart WhatsApp Bypass Latency: </a:t>
            </a:r>
            <a:r>
              <a:rPr b="1">
                <a:solidFill>
                  <a:srgbClr val="F59E0B"/>
                </a:solidFill>
              </a:rPr>
              <a:t>&lt;1 second</a:t>
            </a:r>
          </a:p>
          <a:p>
            <a:br/>
            <a:pPr>
              <a:defRPr sz="1100">
                <a:solidFill>
                  <a:srgbClr val="FFFFFF"/>
                </a:solidFill>
              </a:defRPr>
            </a:pPr>
            <a:r>
              <a:t>• Model Inference Speed: </a:t>
            </a:r>
            <a:r>
              <a:rPr b="1">
                <a:solidFill>
                  <a:srgbClr val="F59E0B"/>
                </a:solidFill>
              </a:rPr>
              <a:t>45 ms</a:t>
            </a:r>
          </a:p>
          <a:p>
            <a:br/>
            <a:pPr>
              <a:defRPr sz="1100">
                <a:solidFill>
                  <a:srgbClr val="FFFFFF"/>
                </a:solidFill>
              </a:defRPr>
            </a:pPr>
            <a:r>
              <a:t>• System Uptime SLA: </a:t>
            </a:r>
            <a:r>
              <a:rPr b="1">
                <a:solidFill>
                  <a:srgbClr val="F59E0B"/>
                </a:solidFill>
              </a:rPr>
              <a:t>99.9%</a:t>
            </a:r>
          </a:p>
          <a:p>
            <a:br/>
            <a:pPr>
              <a:defRPr sz="1100">
                <a:solidFill>
                  <a:srgbClr val="FFFFFF"/>
                </a:solidFill>
              </a:defRPr>
            </a:pPr>
            <a:r>
              <a:t>• ML Model R² Accuracy: </a:t>
            </a:r>
            <a:r>
              <a:rPr b="1">
                <a:solidFill>
                  <a:srgbClr val="F59E0B"/>
                </a:solidFill>
              </a:rPr>
              <a:t>92%</a:t>
            </a:r>
          </a:p>
        </p:txBody>
      </p:sp>
      <p:sp>
        <p:nvSpPr>
          <p:cNvPr id="7" name="Rounded Rectangle 6"/>
          <p:cNvSpPr/>
          <p:nvPr/>
        </p:nvSpPr>
        <p:spPr>
          <a:xfrm>
            <a:off x="6217920" y="1280160"/>
            <a:ext cx="5212080" cy="512064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4937760"/>
          </a:xfrm>
          <a:prstGeom prst="rect">
            <a:avLst/>
          </a:prstGeom>
          <a:noFill/>
        </p:spPr>
        <p:txBody>
          <a:bodyPr wrap="square">
            <a:spAutoFit/>
          </a:bodyPr>
          <a:lstStyle/>
          <a:p>
            <a:pPr>
              <a:defRPr sz="1600" b="1">
                <a:solidFill>
                  <a:srgbClr val="F59E0B"/>
                </a:solidFill>
              </a:defRPr>
            </a:pPr>
            <a:r>
              <a:t>📊 Pilot Test &amp; User Engagement</a:t>
            </a:r>
          </a:p>
          <a:p>
            <a:br/>
            <a:pPr>
              <a:defRPr sz="1100">
                <a:solidFill>
                  <a:srgbClr val="FFFFFF"/>
                </a:solidFill>
              </a:defRPr>
            </a:pPr>
            <a:r>
              <a:t>• Farmers Enrolled in Pilot: </a:t>
            </a:r>
            <a:r>
              <a:rPr b="1">
                <a:solidFill>
                  <a:srgbClr val="00FF66"/>
                </a:solidFill>
              </a:rPr>
              <a:t>500+ across 25 villages in MH &amp; GJ</a:t>
            </a:r>
          </a:p>
          <a:p>
            <a:br/>
            <a:pPr>
              <a:defRPr sz="1100">
                <a:solidFill>
                  <a:srgbClr val="FFFFFF"/>
                </a:solidFill>
              </a:defRPr>
            </a:pPr>
            <a:r>
              <a:t>• Crop Productivity Increase: </a:t>
            </a:r>
            <a:r>
              <a:rPr b="1">
                <a:solidFill>
                  <a:srgbClr val="00FF66"/>
                </a:solidFill>
              </a:rPr>
              <a:t>+28% average yield improvement</a:t>
            </a:r>
          </a:p>
          <a:p>
            <a:br/>
            <a:pPr>
              <a:defRPr sz="1100">
                <a:solidFill>
                  <a:srgbClr val="FFFFFF"/>
                </a:solidFill>
              </a:defRPr>
            </a:pPr>
            <a:r>
              <a:t>• Irrigation Water Savings: </a:t>
            </a:r>
            <a:r>
              <a:rPr b="1">
                <a:solidFill>
                  <a:srgbClr val="00FF66"/>
                </a:solidFill>
              </a:rPr>
              <a:t>+25% reduction in water usage</a:t>
            </a:r>
          </a:p>
          <a:p>
            <a:br/>
            <a:pPr>
              <a:defRPr sz="1100">
                <a:solidFill>
                  <a:srgbClr val="FFFFFF"/>
                </a:solidFill>
              </a:defRPr>
            </a:pPr>
            <a:r>
              <a:t>• Daily Active Users (DAU): </a:t>
            </a:r>
            <a:r>
              <a:rPr b="1">
                <a:solidFill>
                  <a:srgbClr val="00FF66"/>
                </a:solidFill>
              </a:rPr>
              <a:t>2,500+ active daily farmers</a:t>
            </a:r>
          </a:p>
          <a:p>
            <a:br/>
            <a:pPr>
              <a:defRPr sz="1100">
                <a:solidFill>
                  <a:srgbClr val="FFFFFF"/>
                </a:solidFill>
              </a:defRPr>
            </a:pPr>
            <a:r>
              <a:t>• Queries Processed Daily: </a:t>
            </a:r>
            <a:r>
              <a:rPr b="1">
                <a:solidFill>
                  <a:srgbClr val="00FF66"/>
                </a:solidFill>
              </a:rPr>
              <a:t>50,000+ queries/day</a:t>
            </a:r>
          </a:p>
          <a:p>
            <a:br/>
            <a:pPr>
              <a:defRPr sz="1100">
                <a:solidFill>
                  <a:srgbClr val="FFFFFF"/>
                </a:solidFill>
              </a:defRPr>
            </a:pPr>
            <a:r>
              <a:t>• User Satisfaction Rating: </a:t>
            </a:r>
            <a:r>
              <a:rPr b="1">
                <a:solidFill>
                  <a:srgbClr val="00FF66"/>
                </a:solidFill>
              </a:rPr>
              <a:t>4.6 / 5.0 (78% recommendation adoption)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FUTURE SCOPE</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Strategic Innovation Roadmap Ahead</a:t>
            </a:r>
          </a:p>
        </p:txBody>
      </p:sp>
      <p:sp>
        <p:nvSpPr>
          <p:cNvPr id="5" name="Rounded Rectangle 4"/>
          <p:cNvSpPr/>
          <p:nvPr/>
        </p:nvSpPr>
        <p:spPr>
          <a:xfrm>
            <a:off x="731520" y="128016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1371600"/>
          </a:xfrm>
          <a:prstGeom prst="rect">
            <a:avLst/>
          </a:prstGeom>
          <a:noFill/>
        </p:spPr>
        <p:txBody>
          <a:bodyPr wrap="square">
            <a:spAutoFit/>
          </a:bodyPr>
          <a:lstStyle/>
          <a:p>
            <a:pPr>
              <a:defRPr sz="1300" b="1">
                <a:solidFill>
                  <a:srgbClr val="00FF66"/>
                </a:solidFill>
              </a:defRPr>
            </a:pPr>
            <a:r>
              <a:t>🚁 Drone Integration (Q3 2026)</a:t>
            </a:r>
          </a:p>
          <a:p>
            <a:pPr>
              <a:defRPr sz="1000">
                <a:solidFill>
                  <a:srgbClr val="FFFFFF"/>
                </a:solidFill>
              </a:defRPr>
            </a:pPr>
            <a:r>
              <a:t>Automated drone surveys for large farms. High-resolution imagery for pest detection, crop health mapping &amp; spraying.</a:t>
            </a:r>
          </a:p>
        </p:txBody>
      </p:sp>
      <p:sp>
        <p:nvSpPr>
          <p:cNvPr id="7" name="Rounded Rectangle 6"/>
          <p:cNvSpPr/>
          <p:nvPr/>
        </p:nvSpPr>
        <p:spPr>
          <a:xfrm>
            <a:off x="6217920" y="128016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1371600"/>
          </a:xfrm>
          <a:prstGeom prst="rect">
            <a:avLst/>
          </a:prstGeom>
          <a:noFill/>
        </p:spPr>
        <p:txBody>
          <a:bodyPr wrap="square">
            <a:spAutoFit/>
          </a:bodyPr>
          <a:lstStyle/>
          <a:p>
            <a:pPr>
              <a:defRPr sz="1300" b="1">
                <a:solidFill>
                  <a:srgbClr val="00FF66"/>
                </a:solidFill>
              </a:defRPr>
            </a:pPr>
            <a:r>
              <a:t>🔌 IoT Sensor Networks (Q4 2026)</a:t>
            </a:r>
          </a:p>
          <a:p>
            <a:pPr>
              <a:defRPr sz="1000">
                <a:solidFill>
                  <a:srgbClr val="FFFFFF"/>
                </a:solidFill>
              </a:defRPr>
            </a:pPr>
            <a:r>
              <a:t>Real-time soil moisture, temperature, and humidity sensors with automated microclimate irrigation triggers.</a:t>
            </a:r>
          </a:p>
        </p:txBody>
      </p:sp>
      <p:sp>
        <p:nvSpPr>
          <p:cNvPr id="9" name="Rounded Rectangle 8"/>
          <p:cNvSpPr/>
          <p:nvPr/>
        </p:nvSpPr>
        <p:spPr>
          <a:xfrm>
            <a:off x="731520" y="301752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08960"/>
            <a:ext cx="4846320" cy="1371600"/>
          </a:xfrm>
          <a:prstGeom prst="rect">
            <a:avLst/>
          </a:prstGeom>
          <a:noFill/>
        </p:spPr>
        <p:txBody>
          <a:bodyPr wrap="square">
            <a:spAutoFit/>
          </a:bodyPr>
          <a:lstStyle/>
          <a:p>
            <a:pPr>
              <a:defRPr sz="1300" b="1">
                <a:solidFill>
                  <a:srgbClr val="00FF66"/>
                </a:solidFill>
              </a:defRPr>
            </a:pPr>
            <a:r>
              <a:t>🔗 Blockchain Supply Chain (Q1 2027)</a:t>
            </a:r>
          </a:p>
          <a:p>
            <a:pPr>
              <a:defRPr sz="1000">
                <a:solidFill>
                  <a:srgbClr val="FFFFFF"/>
                </a:solidFill>
              </a:defRPr>
            </a:pPr>
            <a:r>
              <a:t>Transparent farm-to-fork tracking. Smart contracts for fair pricing, quality certification &amp; vendor settlements.</a:t>
            </a:r>
          </a:p>
        </p:txBody>
      </p:sp>
      <p:sp>
        <p:nvSpPr>
          <p:cNvPr id="11" name="Rounded Rectangle 10"/>
          <p:cNvSpPr/>
          <p:nvPr/>
        </p:nvSpPr>
        <p:spPr>
          <a:xfrm>
            <a:off x="6217920" y="301752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108960"/>
            <a:ext cx="4846320" cy="1371600"/>
          </a:xfrm>
          <a:prstGeom prst="rect">
            <a:avLst/>
          </a:prstGeom>
          <a:noFill/>
        </p:spPr>
        <p:txBody>
          <a:bodyPr wrap="square">
            <a:spAutoFit/>
          </a:bodyPr>
          <a:lstStyle/>
          <a:p>
            <a:pPr>
              <a:defRPr sz="1300" b="1">
                <a:solidFill>
                  <a:srgbClr val="00FF66"/>
                </a:solidFill>
              </a:defRPr>
            </a:pPr>
            <a:r>
              <a:t>🌾 Crop &amp; Region Expansion (Q2 2027)</a:t>
            </a:r>
          </a:p>
          <a:p>
            <a:pPr>
              <a:defRPr sz="1000">
                <a:solidFill>
                  <a:srgbClr val="FFFFFF"/>
                </a:solidFill>
              </a:defRPr>
            </a:pPr>
            <a:r>
              <a:t>Add 50+ new horticulture crops &amp; spices. Expand into South India, Northeast states &amp; international markets.</a:t>
            </a:r>
          </a:p>
        </p:txBody>
      </p:sp>
      <p:sp>
        <p:nvSpPr>
          <p:cNvPr id="13" name="Rounded Rectangle 12"/>
          <p:cNvSpPr/>
          <p:nvPr/>
        </p:nvSpPr>
        <p:spPr>
          <a:xfrm>
            <a:off x="731520" y="475488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46320"/>
            <a:ext cx="4846320" cy="1371600"/>
          </a:xfrm>
          <a:prstGeom prst="rect">
            <a:avLst/>
          </a:prstGeom>
          <a:noFill/>
        </p:spPr>
        <p:txBody>
          <a:bodyPr wrap="square">
            <a:spAutoFit/>
          </a:bodyPr>
          <a:lstStyle/>
          <a:p>
            <a:pPr>
              <a:defRPr sz="1300" b="1">
                <a:solidFill>
                  <a:srgbClr val="00FF66"/>
                </a:solidFill>
              </a:defRPr>
            </a:pPr>
            <a:r>
              <a:t>📱 Offline Edge AI Models (Q3 2027)</a:t>
            </a:r>
          </a:p>
          <a:p>
            <a:pPr>
              <a:defRPr sz="1000">
                <a:solidFill>
                  <a:srgbClr val="FFFFFF"/>
                </a:solidFill>
              </a:defRPr>
            </a:pPr>
            <a:r>
              <a:t>On-device lightweight vision AI models running directly on mobile phones for zero-connectivity remote farms.</a:t>
            </a:r>
          </a:p>
        </p:txBody>
      </p:sp>
      <p:sp>
        <p:nvSpPr>
          <p:cNvPr id="15" name="Rounded Rectangle 14"/>
          <p:cNvSpPr/>
          <p:nvPr/>
        </p:nvSpPr>
        <p:spPr>
          <a:xfrm>
            <a:off x="6217920" y="4754880"/>
            <a:ext cx="5212080" cy="155448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846320"/>
            <a:ext cx="4846320" cy="1371600"/>
          </a:xfrm>
          <a:prstGeom prst="rect">
            <a:avLst/>
          </a:prstGeom>
          <a:noFill/>
        </p:spPr>
        <p:txBody>
          <a:bodyPr wrap="square">
            <a:spAutoFit/>
          </a:bodyPr>
          <a:lstStyle/>
          <a:p>
            <a:pPr>
              <a:defRPr sz="1300" b="1">
                <a:solidFill>
                  <a:srgbClr val="00FF66"/>
                </a:solidFill>
              </a:defRPr>
            </a:pPr>
            <a:r>
              <a:t>⚠️ Predictive Pest Alerts (Q4 2027)</a:t>
            </a:r>
          </a:p>
          <a:p>
            <a:pPr>
              <a:defRPr sz="1000">
                <a:solidFill>
                  <a:srgbClr val="FFFFFF"/>
                </a:solidFill>
              </a:defRPr>
            </a:pPr>
            <a:r>
              <a:t>ML models predicting pest outbreaks 7-14 days in advance based on weather patterns &amp; proactive recommendations.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20040"/>
          </a:xfrm>
          <a:prstGeom prst="rect">
            <a:avLst/>
          </a:prstGeom>
          <a:noFill/>
        </p:spPr>
        <p:txBody>
          <a:bodyPr wrap="square">
            <a:spAutoFit/>
          </a:bodyPr>
          <a:lstStyle/>
          <a:p>
            <a:pPr>
              <a:defRPr sz="1100" b="1">
                <a:solidFill>
                  <a:srgbClr val="00FF66"/>
                </a:solidFill>
                <a:latin typeface="Arial"/>
              </a:defRPr>
            </a:pPr>
            <a:r>
              <a:t>CONCLUSION</a:t>
            </a:r>
          </a:p>
        </p:txBody>
      </p:sp>
      <p:sp>
        <p:nvSpPr>
          <p:cNvPr id="4" name="TextBox 3"/>
          <p:cNvSpPr txBox="1"/>
          <p:nvPr/>
        </p:nvSpPr>
        <p:spPr>
          <a:xfrm>
            <a:off x="731520" y="594360"/>
            <a:ext cx="10728655" cy="594360"/>
          </a:xfrm>
          <a:prstGeom prst="rect">
            <a:avLst/>
          </a:prstGeom>
          <a:noFill/>
        </p:spPr>
        <p:txBody>
          <a:bodyPr wrap="square">
            <a:spAutoFit/>
          </a:bodyPr>
          <a:lstStyle/>
          <a:p>
            <a:pPr>
              <a:defRPr sz="2400" b="1">
                <a:solidFill>
                  <a:srgbClr val="FFFFFF"/>
                </a:solidFill>
                <a:latin typeface="Arial"/>
              </a:defRPr>
            </a:pPr>
            <a:r>
              <a:t>Empowering Farmers with AI</a:t>
            </a:r>
          </a:p>
        </p:txBody>
      </p:sp>
      <p:sp>
        <p:nvSpPr>
          <p:cNvPr id="5" name="Rounded Rectangle 4"/>
          <p:cNvSpPr/>
          <p:nvPr/>
        </p:nvSpPr>
        <p:spPr>
          <a:xfrm>
            <a:off x="1371600" y="1280160"/>
            <a:ext cx="9448495" cy="5029200"/>
          </a:xfrm>
          <a:prstGeom prst="roundRect">
            <a:avLst/>
          </a:prstGeom>
          <a:solidFill>
            <a:srgbClr val="0F3824"/>
          </a:solidFill>
          <a:ln w="19050">
            <a:solidFill>
              <a:srgbClr val="2264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463040"/>
            <a:ext cx="8899855" cy="4663440"/>
          </a:xfrm>
          <a:prstGeom prst="rect">
            <a:avLst/>
          </a:prstGeom>
          <a:noFill/>
        </p:spPr>
        <p:txBody>
          <a:bodyPr wrap="square">
            <a:spAutoFit/>
          </a:bodyPr>
          <a:lstStyle/>
          <a:p>
            <a:pPr>
              <a:defRPr sz="2200" b="1">
                <a:solidFill>
                  <a:srgbClr val="00FF66"/>
                </a:solidFill>
              </a:defRPr>
            </a:pPr>
            <a:r>
              <a:t>KrishiAI: Transforming Agriculture with AI &amp; Data</a:t>
            </a:r>
          </a:p>
          <a:p>
            <a:br/>
            <a:pPr>
              <a:defRPr sz="1400" i="1">
                <a:solidFill>
                  <a:srgbClr val="F59E0B"/>
                </a:solidFill>
              </a:defRPr>
            </a:pPr>
            <a:r>
              <a:t>"KrishiAI is not just a tool—it's a movement towards sustainable, intelligent agriculture that empowers the hands that feed the nation."</a:t>
            </a:r>
          </a:p>
          <a:p>
            <a:br/>
            <a:pPr>
              <a:defRPr sz="1400" b="1">
                <a:solidFill>
                  <a:srgbClr val="FFFFFF"/>
                </a:solidFill>
              </a:defRPr>
            </a:pPr>
            <a:r>
              <a:t>Key Platform Summary:</a:t>
            </a:r>
          </a:p>
          <a:p>
            <a:pPr>
              <a:defRPr sz="1100">
                <a:solidFill>
                  <a:srgbClr val="D1D5DB"/>
                </a:solidFill>
              </a:defRPr>
            </a:pPr>
            <a:r>
              <a:t>✓  92% Accurate Crop Yield Prediction validated on 10+ years of ICAR agricultural data.</a:t>
            </a:r>
          </a:p>
          <a:p>
            <a:pPr>
              <a:defRPr sz="1100">
                <a:solidFill>
                  <a:srgbClr val="D1D5DB"/>
                </a:solidFill>
              </a:defRPr>
            </a:pPr>
            <a:r>
              <a:t>✓  Multi-Channel Delivery: Web Dashboard, WhatsApp Bot, Vapi Real-Time Voice Agent &amp; Expo Mobile App.</a:t>
            </a:r>
          </a:p>
          <a:p>
            <a:pPr>
              <a:defRPr sz="1100">
                <a:solidFill>
                  <a:srgbClr val="D1D5DB"/>
                </a:solidFill>
              </a:defRPr>
            </a:pPr>
            <a:r>
              <a:t>✓  Integrated B2B Multi-Vendor Marketplace connecting farmers directly with verified input suppliers &amp; buyers.</a:t>
            </a:r>
          </a:p>
          <a:p>
            <a:pPr>
              <a:defRPr sz="1100">
                <a:solidFill>
                  <a:srgbClr val="D1D5DB"/>
                </a:solidFill>
              </a:defRPr>
            </a:pPr>
            <a:r>
              <a:t>✓  &lt;1s Smart Keyword Bypass System delivering zero-latency critical weather &amp; market advisories.</a:t>
            </a:r>
          </a:p>
          <a:p>
            <a:pPr>
              <a:defRPr sz="1100">
                <a:solidFill>
                  <a:srgbClr val="D1D5DB"/>
                </a:solidFill>
              </a:defRPr>
            </a:pPr>
            <a:r>
              <a:t>✓  28% Average Yield Improvement &amp; 25% Irrigation Water Savings proven in pilot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